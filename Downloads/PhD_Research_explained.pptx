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>
  <p:sldMasterIdLst>
    <p:sldMasterId id="2147483709" r:id="rId1"/>
  </p:sldMasterIdLst>
  <p:notesMasterIdLst>
    <p:notesMasterId r:id="rId22"/>
  </p:notesMasterIdLst>
  <p:handoutMasterIdLst>
    <p:handoutMasterId r:id="rId23"/>
  </p:handoutMasterIdLst>
  <p:sldIdLst>
    <p:sldId id="266" r:id="rId2"/>
    <p:sldId id="433" r:id="rId3"/>
    <p:sldId id="514" r:id="rId4"/>
    <p:sldId id="478" r:id="rId5"/>
    <p:sldId id="499" r:id="rId6"/>
    <p:sldId id="516" r:id="rId7"/>
    <p:sldId id="518" r:id="rId8"/>
    <p:sldId id="529" r:id="rId9"/>
    <p:sldId id="517" r:id="rId10"/>
    <p:sldId id="519" r:id="rId11"/>
    <p:sldId id="520" r:id="rId12"/>
    <p:sldId id="500" r:id="rId13"/>
    <p:sldId id="521" r:id="rId14"/>
    <p:sldId id="510" r:id="rId15"/>
    <p:sldId id="522" r:id="rId16"/>
    <p:sldId id="523" r:id="rId17"/>
    <p:sldId id="524" r:id="rId18"/>
    <p:sldId id="526" r:id="rId19"/>
    <p:sldId id="525" r:id="rId20"/>
    <p:sldId id="457" r:id="rId21"/>
  </p:sldIdLst>
  <p:sldSz cx="9144000" cy="6858000" type="screen4x3"/>
  <p:notesSz cx="6797675" cy="9926638"/>
  <p:defaultTextStyle>
    <a:defPPr>
      <a:defRPr lang="es-ES_tradnl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FF00"/>
    <a:srgbClr val="FF3300"/>
    <a:srgbClr val="FF9900"/>
    <a:srgbClr val="FF6600"/>
    <a:srgbClr val="F8F8F8"/>
    <a:srgbClr val="66FF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1" autoAdjust="0"/>
    <p:restoredTop sz="96390" autoAdjust="0"/>
  </p:normalViewPr>
  <p:slideViewPr>
    <p:cSldViewPr>
      <p:cViewPr varScale="1">
        <p:scale>
          <a:sx n="78" d="100"/>
          <a:sy n="78" d="100"/>
        </p:scale>
        <p:origin x="108" y="684"/>
      </p:cViewPr>
      <p:guideLst>
        <p:guide orient="horz" pos="202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7" d="100"/>
          <a:sy n="37" d="100"/>
        </p:scale>
        <p:origin x="-1470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00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00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00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144B8816-B62F-47EC-B7C6-1B6016A94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054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563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0E1BB29A-9CAB-4426-8E8A-CA24CAA33340}" type="slidenum">
              <a:rPr lang="es-ES_tradnl"/>
              <a:pPr>
                <a:defRPr/>
              </a:pPr>
              <a:t>‹#›</a:t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EC35A4-00C9-48F0-8A95-04C757343419}" type="slidenum">
              <a:rPr lang="es-ES_tradnl" smtClean="0"/>
              <a:pPr/>
              <a:t>1</a:t>
            </a:fld>
            <a:endParaRPr lang="es-ES_tradnl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E1BB29A-9CAB-4426-8E8A-CA24CAA33340}" type="slidenum">
              <a:rPr lang="es-ES_tradnl" smtClean="0"/>
              <a:pPr>
                <a:defRPr/>
              </a:pPr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73646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s-ES"/>
              <a:t>INTRODUCCIÓN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fld id="{907021CD-25AC-4663-A56D-B16025A080C1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s-ES"/>
              <a:t>INTRODUCCIÓN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fld id="{D1916541-0126-4162-9AF3-252D4331AF75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s-ES"/>
              <a:t>INTRODUCCIÓN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fld id="{BD12B187-AE99-4A6E-8B4F-BF97329B7D35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s-ES"/>
              <a:t>INTRODUCCIÓN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fld id="{AD23359E-BC66-42A5-B0FD-0654536CA781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s-ES"/>
              <a:t>INTRODUCCIÓN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fld id="{401D3161-621E-486D-9738-3CF299A594A0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s-ES"/>
              <a:t>INTRODUCCIÓN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fld id="{227EE147-D22C-41DB-AAD1-1268711D9835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s-ES"/>
              <a:t>INTRODUCCIÓN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fld id="{B985346E-C94D-4EFE-A0F1-3408D5CB3DA1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s-ES"/>
              <a:t>INTRODUCCIÓN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fld id="{9F323A55-E456-4C61-BAFB-B5F06C87AE69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s-ES"/>
              <a:t>INTRODUCCIÓN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Arial Narrow" pitchFamily="34" charset="0"/>
              </a:defRPr>
            </a:lvl1pPr>
          </a:lstStyle>
          <a:p>
            <a:pPr>
              <a:defRPr/>
            </a:pPr>
            <a:fld id="{DF7C50AD-BFEC-403A-B177-867B5319F8D9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INTRODUCCIÓN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71D478-EF74-4A8B-AE00-1C7D383336CB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INTRODUCCIÓN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BB6692-EF8F-43B6-BD54-C5DF6FBA65F0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INTRODUCCIÓN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8CE0C724-247E-4F7D-9582-322994A986D7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29" r:id="rId1"/>
    <p:sldLayoutId id="2147487230" r:id="rId2"/>
    <p:sldLayoutId id="2147487231" r:id="rId3"/>
    <p:sldLayoutId id="2147487232" r:id="rId4"/>
    <p:sldLayoutId id="2147487233" r:id="rId5"/>
    <p:sldLayoutId id="2147487234" r:id="rId6"/>
    <p:sldLayoutId id="2147487235" r:id="rId7"/>
    <p:sldLayoutId id="2147487236" r:id="rId8"/>
    <p:sldLayoutId id="2147487237" r:id="rId9"/>
    <p:sldLayoutId id="2147487318" r:id="rId10"/>
    <p:sldLayoutId id="2147487319" r:id="rId11"/>
  </p:sldLayoutIdLst>
  <p:transition spd="slow"/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chapter/10.1007/978-3-031-21640-4_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www.nature.com/articles/s41598-023-28244-5#citeas" TargetMode="External"/><Relationship Id="rId4" Type="http://schemas.openxmlformats.org/officeDocument/2006/relationships/hyperlink" Target="https://www.mdpi.com/2225-1154/11/10/202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earthexplorer.usgs.gov/" TargetMode="External"/><Relationship Id="rId5" Type="http://schemas.openxmlformats.org/officeDocument/2006/relationships/hyperlink" Target="https://power.larc.nasa.gov/data-access-viewer/" TargetMode="External"/><Relationship Id="rId4" Type="http://schemas.openxmlformats.org/officeDocument/2006/relationships/hyperlink" Target="https://www.fao.org/faostat/en/#home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Text Box 16"/>
          <p:cNvSpPr txBox="1">
            <a:spLocks noChangeArrowheads="1"/>
          </p:cNvSpPr>
          <p:nvPr/>
        </p:nvSpPr>
        <p:spPr bwMode="auto">
          <a:xfrm>
            <a:off x="667607" y="2410209"/>
            <a:ext cx="7746484" cy="584775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/>
            <a:r>
              <a:rPr lang="en-GB" sz="3200" b="1" dirty="0">
                <a:solidFill>
                  <a:srgbClr val="FFFF00"/>
                </a:solidFill>
                <a:latin typeface="Calibri" pitchFamily="34" charset="0"/>
              </a:rPr>
              <a:t>Faculty of Agriculture, University of Nairobi</a:t>
            </a:r>
          </a:p>
        </p:txBody>
      </p:sp>
      <p:sp>
        <p:nvSpPr>
          <p:cNvPr id="73734" name="Line 33"/>
          <p:cNvSpPr>
            <a:spLocks noChangeShapeType="1"/>
          </p:cNvSpPr>
          <p:nvPr/>
        </p:nvSpPr>
        <p:spPr bwMode="auto">
          <a:xfrm>
            <a:off x="0" y="227687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36" name="Line 36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37" name="Line 37"/>
          <p:cNvSpPr>
            <a:spLocks noChangeShapeType="1"/>
          </p:cNvSpPr>
          <p:nvPr/>
        </p:nvSpPr>
        <p:spPr bwMode="auto">
          <a:xfrm>
            <a:off x="-7938" y="6845300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34797" y="44623"/>
            <a:ext cx="7181549" cy="2141951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en-GB" sz="3400" b="1" dirty="0">
                <a:solidFill>
                  <a:srgbClr val="00B0F0"/>
                </a:solidFill>
                <a:latin typeface="Calibri" pitchFamily="34" charset="0"/>
              </a:rPr>
              <a:t>Research for the award of the Doctor of Philosophy Degree (PhD) in Management of Agroecosystems and Environment</a:t>
            </a:r>
            <a:r>
              <a:rPr lang="en-US" sz="3400" b="1" kern="0" spc="100" dirty="0">
                <a:solidFill>
                  <a:srgbClr val="00B0F0"/>
                </a:solidFill>
                <a:latin typeface="Calibri" pitchFamily="34" charset="0"/>
                <a:ea typeface="+mj-ea"/>
                <a:cs typeface="+mj-cs"/>
              </a:rPr>
              <a:t>. 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F68ECB4-2E1F-4EC8-A794-DF44916BC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688" y="78825"/>
            <a:ext cx="1886374" cy="210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16">
            <a:extLst>
              <a:ext uri="{FF2B5EF4-FFF2-40B4-BE49-F238E27FC236}">
                <a16:creationId xmlns:a16="http://schemas.microsoft.com/office/drawing/2014/main" id="{71B71A88-CDE8-4191-9897-EE17A7622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3" y="5055439"/>
            <a:ext cx="8995193" cy="1661993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sz="3400" b="1" dirty="0">
                <a:solidFill>
                  <a:srgbClr val="F8F8F8"/>
                </a:solidFill>
                <a:latin typeface="Calibri" pitchFamily="34" charset="0"/>
              </a:rPr>
              <a:t>Supervisors: 	</a:t>
            </a:r>
          </a:p>
          <a:p>
            <a:r>
              <a:rPr lang="en-GB" sz="3400" b="1" dirty="0">
                <a:solidFill>
                  <a:srgbClr val="F8F8F8"/>
                </a:solidFill>
                <a:latin typeface="Calibri" pitchFamily="34" charset="0"/>
              </a:rPr>
              <a:t>Prof. Richard N. </a:t>
            </a:r>
            <a:r>
              <a:rPr lang="en-GB" sz="3400" b="1" dirty="0" err="1">
                <a:solidFill>
                  <a:srgbClr val="F8F8F8"/>
                </a:solidFill>
                <a:latin typeface="Calibri" pitchFamily="34" charset="0"/>
              </a:rPr>
              <a:t>Onwonga</a:t>
            </a:r>
            <a:r>
              <a:rPr lang="en-GB" sz="3400" b="1" dirty="0">
                <a:solidFill>
                  <a:srgbClr val="F8F8F8"/>
                </a:solidFill>
                <a:latin typeface="Calibri" pitchFamily="34" charset="0"/>
              </a:rPr>
              <a:t>, Prof. Walter Leal Filho, Prof. Charles K. K. </a:t>
            </a:r>
            <a:r>
              <a:rPr lang="en-GB" sz="3400" b="1" dirty="0" err="1">
                <a:solidFill>
                  <a:srgbClr val="F8F8F8"/>
                </a:solidFill>
                <a:latin typeface="Calibri" pitchFamily="34" charset="0"/>
              </a:rPr>
              <a:t>Gachene</a:t>
            </a:r>
            <a:endParaRPr lang="de-DE" sz="3400" b="1" dirty="0">
              <a:solidFill>
                <a:srgbClr val="F8F8F8"/>
              </a:solidFill>
              <a:latin typeface="Calibri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E7FEB762-1068-45E9-8F9D-BEF04962DC3C}"/>
              </a:ext>
            </a:extLst>
          </p:cNvPr>
          <p:cNvSpPr txBox="1">
            <a:spLocks noChangeArrowheads="1"/>
          </p:cNvSpPr>
          <p:nvPr/>
        </p:nvSpPr>
        <p:spPr>
          <a:xfrm>
            <a:off x="52006" y="3127243"/>
            <a:ext cx="9021930" cy="1093845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/>
          <a:lstStyle/>
          <a:p>
            <a:pPr algn="l" eaLnBrk="1" hangingPunct="1">
              <a:defRPr/>
            </a:pPr>
            <a:r>
              <a:rPr lang="en-US" sz="3200" b="1" kern="0" spc="100" dirty="0">
                <a:solidFill>
                  <a:srgbClr val="FFFF00"/>
                </a:solidFill>
                <a:latin typeface="Calibri" pitchFamily="34" charset="0"/>
                <a:ea typeface="+mj-ea"/>
                <a:cs typeface="+mj-cs"/>
              </a:rPr>
              <a:t>Thesis</a:t>
            </a:r>
            <a:r>
              <a:rPr lang="en-US" sz="3200" b="1" kern="0" spc="100" dirty="0">
                <a:solidFill>
                  <a:srgbClr val="00B0F0"/>
                </a:solidFill>
                <a:latin typeface="Calibri" pitchFamily="34" charset="0"/>
                <a:ea typeface="+mj-ea"/>
                <a:cs typeface="+mj-cs"/>
              </a:rPr>
              <a:t>: Climate change impacts on maize-based  agroecosystems in Kikuyu Sub-County, Kenya. 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8A6077EF-7308-486F-BE11-9EE90D7ED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4330487"/>
            <a:ext cx="4773824" cy="615553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/>
            <a:r>
              <a:rPr lang="en-GB" sz="3400" b="1" dirty="0">
                <a:solidFill>
                  <a:srgbClr val="F8F8F8"/>
                </a:solidFill>
                <a:latin typeface="Calibri" pitchFamily="34" charset="0"/>
              </a:rPr>
              <a:t>by:  Jean-Marie V. Minani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nimBg="1"/>
      <p:bldP spid="14" grpId="0" animBg="1"/>
      <p:bldP spid="13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Line 9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83C93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760" name="Line 17"/>
          <p:cNvSpPr>
            <a:spLocks noChangeShapeType="1"/>
          </p:cNvSpPr>
          <p:nvPr/>
        </p:nvSpPr>
        <p:spPr bwMode="auto">
          <a:xfrm>
            <a:off x="0" y="1340768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2" name="Line 1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7CB198-DBFA-4BBA-A985-D96175A0E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661" y="11112"/>
            <a:ext cx="1225402" cy="1185640"/>
          </a:xfrm>
          <a:prstGeom prst="rect">
            <a:avLst/>
          </a:prstGeom>
        </p:spPr>
      </p:pic>
      <p:sp>
        <p:nvSpPr>
          <p:cNvPr id="11" name="Line 17">
            <a:extLst>
              <a:ext uri="{FF2B5EF4-FFF2-40B4-BE49-F238E27FC236}">
                <a16:creationId xmlns:a16="http://schemas.microsoft.com/office/drawing/2014/main" id="{501F91EB-BC72-497E-A37D-5025F5759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-7938" y="685641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C00BAF7-D596-40C9-A991-5E267C763596}"/>
              </a:ext>
            </a:extLst>
          </p:cNvPr>
          <p:cNvSpPr txBox="1">
            <a:spLocks noChangeArrowheads="1"/>
          </p:cNvSpPr>
          <p:nvPr/>
        </p:nvSpPr>
        <p:spPr>
          <a:xfrm>
            <a:off x="87777" y="1484784"/>
            <a:ext cx="8952570" cy="4608512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/>
          <a:lstStyle/>
          <a:p>
            <a:pPr marL="457200" indent="-457200" algn="l">
              <a:spcBef>
                <a:spcPct val="50000"/>
              </a:spcBef>
              <a:buAutoNum type="arabicPeriod"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</a:rPr>
              <a:t>INTRODUCTION</a:t>
            </a:r>
          </a:p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</a:rPr>
              <a:t>2. LITERATURE REVIEW </a:t>
            </a:r>
          </a:p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F8F8F8"/>
                </a:solidFill>
                <a:latin typeface="Calibri" pitchFamily="34" charset="0"/>
              </a:rPr>
              <a:t>3. MATERIAL AND METHODS</a:t>
            </a:r>
          </a:p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F8F8F8"/>
                </a:solidFill>
                <a:latin typeface="Calibri" pitchFamily="34" charset="0"/>
              </a:rPr>
              <a:t>4. RESULTS</a:t>
            </a:r>
          </a:p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F8F8F8"/>
                </a:solidFill>
                <a:latin typeface="Calibri" pitchFamily="34" charset="0"/>
              </a:rPr>
              <a:t>5. DISCUSSIONS</a:t>
            </a:r>
          </a:p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F8F8F8"/>
                </a:solidFill>
                <a:latin typeface="Calibri" pitchFamily="34" charset="0"/>
              </a:rPr>
              <a:t>6. CONCLUSIONS</a:t>
            </a: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02FC4C5E-894D-47A9-A79B-E7742A7E2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857" y="395953"/>
            <a:ext cx="1800200" cy="584775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/>
            <a:r>
              <a:rPr lang="en-GB" sz="3200" b="1" dirty="0">
                <a:solidFill>
                  <a:srgbClr val="FFFF00"/>
                </a:solidFill>
                <a:latin typeface="Calibri" pitchFamily="34" charset="0"/>
              </a:rPr>
              <a:t>Outlines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Line 9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83C93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762" name="Line 1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7CB198-DBFA-4BBA-A985-D96175A0E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399" y="11112"/>
            <a:ext cx="963663" cy="932394"/>
          </a:xfrm>
          <a:prstGeom prst="rect">
            <a:avLst/>
          </a:prstGeom>
        </p:spPr>
      </p:pic>
      <p:sp>
        <p:nvSpPr>
          <p:cNvPr id="11" name="Line 17">
            <a:extLst>
              <a:ext uri="{FF2B5EF4-FFF2-40B4-BE49-F238E27FC236}">
                <a16:creationId xmlns:a16="http://schemas.microsoft.com/office/drawing/2014/main" id="{501F91EB-BC72-497E-A37D-5025F5759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-7938" y="685641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379A79EA-3ACD-4140-9B01-92E06E815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638132"/>
            <a:ext cx="8172399" cy="977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300" b="1" dirty="0">
                <a:solidFill>
                  <a:srgbClr val="FFFF00"/>
                </a:solidFill>
                <a:latin typeface="Calibri" pitchFamily="34" charset="0"/>
              </a:rPr>
              <a:t>1.1. Background:  </a:t>
            </a:r>
          </a:p>
          <a:p>
            <a:pPr algn="l">
              <a:spcBef>
                <a:spcPct val="50000"/>
              </a:spcBef>
            </a:pPr>
            <a:r>
              <a:rPr lang="en-GB" sz="2300" b="1" dirty="0">
                <a:solidFill>
                  <a:srgbClr val="FFFF00"/>
                </a:solidFill>
                <a:latin typeface="Calibri" pitchFamily="34" charset="0"/>
              </a:rPr>
              <a:t>effects of climate change  on food /maize production </a:t>
            </a:r>
            <a:endParaRPr lang="en-US" sz="23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470CFFC9-EEE4-4B10-AAA5-4F38277A5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305797"/>
            <a:ext cx="2736304" cy="584775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1.Introduction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4CD161-3B6D-45A0-80FF-614BCFA77E4B}"/>
              </a:ext>
            </a:extLst>
          </p:cNvPr>
          <p:cNvSpPr txBox="1"/>
          <p:nvPr/>
        </p:nvSpPr>
        <p:spPr>
          <a:xfrm>
            <a:off x="1669536" y="3382137"/>
            <a:ext cx="208823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300" b="1" dirty="0">
                <a:solidFill>
                  <a:schemeClr val="bg1"/>
                </a:solidFill>
                <a:latin typeface="Calibri" pitchFamily="34" charset="0"/>
              </a:rPr>
              <a:t>Global </a:t>
            </a:r>
            <a:r>
              <a:rPr lang="de-DE" sz="2300" b="1" dirty="0" err="1">
                <a:solidFill>
                  <a:schemeClr val="bg1"/>
                </a:solidFill>
                <a:latin typeface="Calibri" pitchFamily="34" charset="0"/>
              </a:rPr>
              <a:t>context</a:t>
            </a:r>
            <a:r>
              <a:rPr lang="de-DE" sz="2300" b="1" dirty="0">
                <a:solidFill>
                  <a:schemeClr val="bg1"/>
                </a:solidFill>
                <a:latin typeface="Calibri" pitchFamily="34" charset="0"/>
              </a:rPr>
              <a:t>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32CEA3-18C3-4F91-AAE3-3393E460E826}"/>
              </a:ext>
            </a:extLst>
          </p:cNvPr>
          <p:cNvSpPr txBox="1"/>
          <p:nvPr/>
        </p:nvSpPr>
        <p:spPr>
          <a:xfrm>
            <a:off x="1564065" y="4516750"/>
            <a:ext cx="229917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300" b="1" dirty="0">
                <a:solidFill>
                  <a:schemeClr val="bg1"/>
                </a:solidFill>
                <a:latin typeface="Calibri" pitchFamily="34" charset="0"/>
              </a:rPr>
              <a:t>Regional </a:t>
            </a:r>
            <a:r>
              <a:rPr lang="de-DE" sz="2300" b="1" dirty="0" err="1">
                <a:solidFill>
                  <a:schemeClr val="bg1"/>
                </a:solidFill>
                <a:latin typeface="Calibri" pitchFamily="34" charset="0"/>
              </a:rPr>
              <a:t>context</a:t>
            </a:r>
            <a:r>
              <a:rPr lang="de-DE" sz="2300" b="1" dirty="0">
                <a:solidFill>
                  <a:schemeClr val="bg1"/>
                </a:solidFill>
                <a:latin typeface="Calibri" pitchFamily="34" charset="0"/>
              </a:rPr>
              <a:t>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D1961E-DB32-4C80-9C17-BD9B6AC18A14}"/>
              </a:ext>
            </a:extLst>
          </p:cNvPr>
          <p:cNvSpPr txBox="1"/>
          <p:nvPr/>
        </p:nvSpPr>
        <p:spPr>
          <a:xfrm>
            <a:off x="1564065" y="5651363"/>
            <a:ext cx="2299173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300" b="1" dirty="0">
                <a:solidFill>
                  <a:schemeClr val="bg1"/>
                </a:solidFill>
                <a:latin typeface="Calibri" pitchFamily="34" charset="0"/>
              </a:rPr>
              <a:t>National </a:t>
            </a:r>
            <a:r>
              <a:rPr lang="de-DE" sz="2300" b="1" dirty="0" err="1">
                <a:solidFill>
                  <a:schemeClr val="bg1"/>
                </a:solidFill>
                <a:latin typeface="Calibri" pitchFamily="34" charset="0"/>
              </a:rPr>
              <a:t>context</a:t>
            </a:r>
            <a:r>
              <a:rPr lang="de-DE" sz="2300" b="1" dirty="0">
                <a:solidFill>
                  <a:schemeClr val="bg1"/>
                </a:solidFill>
                <a:latin typeface="Calibri" pitchFamily="34" charset="0"/>
              </a:rPr>
              <a:t>: 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4E38FBBA-241B-4739-B85F-04A5B7179B8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980728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785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Line 5"/>
          <p:cNvSpPr>
            <a:spLocks noChangeShapeType="1"/>
          </p:cNvSpPr>
          <p:nvPr/>
        </p:nvSpPr>
        <p:spPr bwMode="auto">
          <a:xfrm>
            <a:off x="-7938" y="6845300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875" name="Line 7"/>
          <p:cNvSpPr>
            <a:spLocks noChangeShapeType="1"/>
          </p:cNvSpPr>
          <p:nvPr/>
        </p:nvSpPr>
        <p:spPr bwMode="auto">
          <a:xfrm>
            <a:off x="27440" y="1124744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9877" name="Line 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124A17-5C46-47B3-9DE1-13B039DE4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392" y="36104"/>
            <a:ext cx="1014430" cy="10648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943025-3D0A-4505-8711-11FB5099CE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0" y="1700808"/>
            <a:ext cx="4491160" cy="42006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2CF0BB-45D7-495C-B184-62F491B072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24175" y="1696130"/>
            <a:ext cx="4238340" cy="4247696"/>
          </a:xfrm>
          <a:prstGeom prst="rect">
            <a:avLst/>
          </a:prstGeom>
        </p:spPr>
      </p:pic>
      <p:sp>
        <p:nvSpPr>
          <p:cNvPr id="12" name="Text Box 16">
            <a:extLst>
              <a:ext uri="{FF2B5EF4-FFF2-40B4-BE49-F238E27FC236}">
                <a16:creationId xmlns:a16="http://schemas.microsoft.com/office/drawing/2014/main" id="{30A385EF-60C8-4AA9-B85C-DFE2ABA6B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78" y="116632"/>
            <a:ext cx="8071214" cy="830997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/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Maize (</a:t>
            </a:r>
            <a:r>
              <a:rPr lang="en-US" b="1" dirty="0" err="1">
                <a:solidFill>
                  <a:srgbClr val="FFFF00"/>
                </a:solidFill>
                <a:latin typeface="Calibri" pitchFamily="34" charset="0"/>
              </a:rPr>
              <a:t>Zea</a:t>
            </a:r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 mays) is a staple crop consumed by more than 90% of households in urban and rural areas in Kenya (KNBS, 2024)</a:t>
            </a:r>
            <a:endParaRPr lang="de-DE" b="1" dirty="0">
              <a:solidFill>
                <a:srgbClr val="FFFF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8664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Line 5"/>
          <p:cNvSpPr>
            <a:spLocks noChangeShapeType="1"/>
          </p:cNvSpPr>
          <p:nvPr/>
        </p:nvSpPr>
        <p:spPr bwMode="auto">
          <a:xfrm>
            <a:off x="-7938" y="6845300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875" name="Line 7"/>
          <p:cNvSpPr>
            <a:spLocks noChangeShapeType="1"/>
          </p:cNvSpPr>
          <p:nvPr/>
        </p:nvSpPr>
        <p:spPr bwMode="auto">
          <a:xfrm>
            <a:off x="-29178" y="119675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877" name="Line 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124A17-5C46-47B3-9DE1-13B039DE4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392" y="36104"/>
            <a:ext cx="1014430" cy="1064899"/>
          </a:xfrm>
          <a:prstGeom prst="rect">
            <a:avLst/>
          </a:prstGeom>
        </p:spPr>
      </p:pic>
      <p:sp>
        <p:nvSpPr>
          <p:cNvPr id="23" name="Rectangle 6">
            <a:extLst>
              <a:ext uri="{FF2B5EF4-FFF2-40B4-BE49-F238E27FC236}">
                <a16:creationId xmlns:a16="http://schemas.microsoft.com/office/drawing/2014/main" id="{0C8515F0-D871-498D-8EE7-62DB32C3E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6" y="1201510"/>
            <a:ext cx="5033226" cy="2613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457200" indent="-457200" algn="l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GB" sz="2800" b="1" dirty="0">
                <a:solidFill>
                  <a:srgbClr val="FFFF00"/>
                </a:solidFill>
                <a:latin typeface="Calibri" pitchFamily="34" charset="0"/>
              </a:rPr>
              <a:t>Kenya</a:t>
            </a:r>
            <a:r>
              <a:rPr lang="en-GB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highly vulnerable to droughts and flooding: </a:t>
            </a:r>
          </a:p>
          <a:p>
            <a:pPr algn="l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GB" sz="2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 2022, Kenya has experienced severe droughts in the Arid and Semi-Arid Lands (ASALs).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0276E7-E292-4C6D-A617-C2543AE9B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1279534"/>
            <a:ext cx="4061956" cy="27975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91DDD0-C64E-4EE6-BB9C-916899134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904" y="4135173"/>
            <a:ext cx="4024100" cy="2678203"/>
          </a:xfrm>
          <a:prstGeom prst="rect">
            <a:avLst/>
          </a:prstGeom>
        </p:spPr>
      </p:pic>
      <p:sp>
        <p:nvSpPr>
          <p:cNvPr id="10" name="Text Box 16">
            <a:extLst>
              <a:ext uri="{FF2B5EF4-FFF2-40B4-BE49-F238E27FC236}">
                <a16:creationId xmlns:a16="http://schemas.microsoft.com/office/drawing/2014/main" id="{FBDAA600-49B5-4324-9FBD-4FAE067C2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6" y="19040"/>
            <a:ext cx="7900292" cy="1077218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Climate change severely impacts agricultural production</a:t>
            </a:r>
            <a:r>
              <a:rPr lang="en-GB" sz="3200" b="1" dirty="0">
                <a:solidFill>
                  <a:srgbClr val="FFFF00"/>
                </a:solidFill>
                <a:latin typeface="Calibri" pitchFamily="34" charset="0"/>
              </a:rPr>
              <a:t>, threatens food security</a:t>
            </a:r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 in Kenya</a:t>
            </a:r>
            <a:endParaRPr lang="de-DE" sz="32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E77DB1E-D758-4325-A00E-63B159682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3857" y="4123684"/>
            <a:ext cx="5396932" cy="2502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342900" indent="-342900" algn="l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200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April 2024</a:t>
            </a: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heavy rains caused devastating floods that affected Nairobi city, the Makueni, the West Pokot, and the Machakos counties: over 200 deaths and displaced hundreds of thousands of people</a:t>
            </a:r>
          </a:p>
        </p:txBody>
      </p:sp>
    </p:spTree>
    <p:extLst>
      <p:ext uri="{BB962C8B-B14F-4D97-AF65-F5344CB8AC3E}">
        <p14:creationId xmlns:p14="http://schemas.microsoft.com/office/powerpoint/2010/main" val="16181570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Line 9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83C93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762" name="Line 1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7">
            <a:extLst>
              <a:ext uri="{FF2B5EF4-FFF2-40B4-BE49-F238E27FC236}">
                <a16:creationId xmlns:a16="http://schemas.microsoft.com/office/drawing/2014/main" id="{501F91EB-BC72-497E-A37D-5025F5759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-7938" y="685641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EC0D7B-E5E1-44B5-BE9F-AECD8E817149}"/>
              </a:ext>
            </a:extLst>
          </p:cNvPr>
          <p:cNvGrpSpPr/>
          <p:nvPr/>
        </p:nvGrpSpPr>
        <p:grpSpPr>
          <a:xfrm>
            <a:off x="0" y="11112"/>
            <a:ext cx="9144000" cy="6783283"/>
            <a:chOff x="0" y="11112"/>
            <a:chExt cx="9144000" cy="678328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B7CB198-DBFA-4BBA-A985-D96175A0E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72399" y="11112"/>
              <a:ext cx="963663" cy="932394"/>
            </a:xfrm>
            <a:prstGeom prst="rect">
              <a:avLst/>
            </a:prstGeom>
          </p:spPr>
        </p:pic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3716FCE2-7C76-4FC0-B936-E728579ED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483" y="3524743"/>
              <a:ext cx="2461885" cy="4462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2300" b="1" dirty="0">
                  <a:solidFill>
                    <a:srgbClr val="FFFF00"/>
                  </a:solidFill>
                  <a:latin typeface="Calibri" pitchFamily="34" charset="0"/>
                </a:rPr>
                <a:t>Identified gaps </a:t>
              </a:r>
              <a:endParaRPr lang="en-US" sz="2300" b="1" dirty="0">
                <a:solidFill>
                  <a:srgbClr val="FFFF00"/>
                </a:solidFill>
                <a:latin typeface="Calibri" pitchFamily="34" charset="0"/>
              </a:endParaRPr>
            </a:p>
          </p:txBody>
        </p:sp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7359985D-5D39-4ECD-BC84-DC0FCEF7C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483" y="1110516"/>
              <a:ext cx="3307286" cy="4462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sz="2300" b="1" dirty="0">
                  <a:solidFill>
                    <a:srgbClr val="FFFF00"/>
                  </a:solidFill>
                  <a:latin typeface="Calibri" pitchFamily="34" charset="0"/>
                </a:rPr>
                <a:t>1.2. Problem statement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033776-CA89-4D8C-9099-7E37AD0FADCF}"/>
                </a:ext>
              </a:extLst>
            </p:cNvPr>
            <p:cNvSpPr txBox="1"/>
            <p:nvPr/>
          </p:nvSpPr>
          <p:spPr>
            <a:xfrm>
              <a:off x="1722916" y="1619733"/>
              <a:ext cx="223224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2300" b="1" dirty="0" err="1">
                  <a:solidFill>
                    <a:schemeClr val="bg1"/>
                  </a:solidFill>
                  <a:latin typeface="Calibri" pitchFamily="34" charset="0"/>
                </a:rPr>
                <a:t>severe</a:t>
              </a:r>
              <a:r>
                <a:rPr lang="de-DE" sz="2300" b="1" dirty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  <a:r>
                <a:rPr lang="de-DE" sz="2300" b="1" dirty="0" err="1">
                  <a:solidFill>
                    <a:schemeClr val="bg1"/>
                  </a:solidFill>
                  <a:latin typeface="Calibri" pitchFamily="34" charset="0"/>
                </a:rPr>
                <a:t>droughts</a:t>
              </a:r>
              <a:r>
                <a:rPr lang="de-DE" sz="2300" b="1" dirty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45BDB8-784A-4DB3-B294-3F6B097FD54F}"/>
                </a:ext>
              </a:extLst>
            </p:cNvPr>
            <p:cNvSpPr txBox="1"/>
            <p:nvPr/>
          </p:nvSpPr>
          <p:spPr>
            <a:xfrm>
              <a:off x="1726649" y="2247255"/>
              <a:ext cx="246188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s-ES_tradnl"/>
              </a:defPPr>
            </a:lstStyle>
            <a:p>
              <a:r>
                <a:rPr lang="de-DE" sz="2300" b="1" dirty="0" err="1">
                  <a:solidFill>
                    <a:schemeClr val="bg1"/>
                  </a:solidFill>
                  <a:latin typeface="Calibri" pitchFamily="34" charset="0"/>
                </a:rPr>
                <a:t>devastating</a:t>
              </a:r>
              <a:r>
                <a:rPr lang="de-DE" sz="2300" b="1" dirty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  <a:r>
                <a:rPr lang="de-DE" sz="2300" b="1" dirty="0" err="1">
                  <a:solidFill>
                    <a:schemeClr val="bg1"/>
                  </a:solidFill>
                  <a:latin typeface="Calibri" pitchFamily="34" charset="0"/>
                </a:rPr>
                <a:t>floods</a:t>
              </a:r>
              <a:endParaRPr lang="de-DE" sz="2300" b="1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8ED3626-9DBE-4692-882C-0C8CCF4F49D6}"/>
                </a:ext>
              </a:extLst>
            </p:cNvPr>
            <p:cNvSpPr txBox="1"/>
            <p:nvPr/>
          </p:nvSpPr>
          <p:spPr>
            <a:xfrm>
              <a:off x="1691680" y="2871592"/>
              <a:ext cx="330728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</a:rPr>
                <a:t> </a:t>
              </a:r>
              <a:r>
                <a:rPr lang="de-DE" sz="2300" b="1" dirty="0" err="1">
                  <a:solidFill>
                    <a:schemeClr val="bg1"/>
                  </a:solidFill>
                  <a:latin typeface="Calibri" pitchFamily="34" charset="0"/>
                </a:rPr>
                <a:t>food</a:t>
              </a:r>
              <a:r>
                <a:rPr lang="de-DE" sz="2300" b="1" dirty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  <a:r>
                <a:rPr lang="de-DE" sz="2300" b="1" dirty="0" err="1">
                  <a:solidFill>
                    <a:schemeClr val="bg1"/>
                  </a:solidFill>
                  <a:latin typeface="Calibri" pitchFamily="34" charset="0"/>
                </a:rPr>
                <a:t>security</a:t>
              </a:r>
              <a:r>
                <a:rPr lang="de-DE" sz="2300" b="1" dirty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  <a:r>
                <a:rPr lang="de-DE" sz="2300" b="1" dirty="0" err="1">
                  <a:solidFill>
                    <a:schemeClr val="bg1"/>
                  </a:solidFill>
                  <a:latin typeface="Calibri" pitchFamily="34" charset="0"/>
                </a:rPr>
                <a:t>threatened</a:t>
              </a:r>
              <a:r>
                <a:rPr lang="de-DE" sz="2300" b="1" dirty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78BD9D-7610-4CB4-A21B-9AFA970C94EB}"/>
                </a:ext>
              </a:extLst>
            </p:cNvPr>
            <p:cNvSpPr txBox="1"/>
            <p:nvPr/>
          </p:nvSpPr>
          <p:spPr>
            <a:xfrm>
              <a:off x="1722916" y="3933049"/>
              <a:ext cx="7288114" cy="1508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de-DE" sz="2300" b="1" dirty="0">
                  <a:solidFill>
                    <a:schemeClr val="bg1"/>
                  </a:solidFill>
                  <a:latin typeface="Calibri" pitchFamily="34" charset="0"/>
                </a:rPr>
                <a:t>The Geographic </a:t>
              </a:r>
              <a:r>
                <a:rPr lang="de-DE" sz="2300" b="1" dirty="0" err="1">
                  <a:solidFill>
                    <a:schemeClr val="bg1"/>
                  </a:solidFill>
                  <a:latin typeface="Calibri" pitchFamily="34" charset="0"/>
                </a:rPr>
                <a:t>gap</a:t>
              </a:r>
              <a:r>
                <a:rPr lang="de-DE" sz="2300" b="1" dirty="0">
                  <a:solidFill>
                    <a:schemeClr val="bg1"/>
                  </a:solidFill>
                  <a:latin typeface="Calibri" pitchFamily="34" charset="0"/>
                </a:rPr>
                <a:t>: </a:t>
              </a:r>
            </a:p>
            <a:p>
              <a:pPr algn="just"/>
              <a:r>
                <a:rPr lang="en-US" sz="2300" b="1" dirty="0">
                  <a:solidFill>
                    <a:schemeClr val="bg1"/>
                  </a:solidFill>
                  <a:latin typeface="Calibri" pitchFamily="34" charset="0"/>
                </a:rPr>
                <a:t>lack of assessment of climate change impacts on maize-based agroecosystems in Kiambu County, and Kikuyu Sub-County in particular. </a:t>
              </a:r>
              <a:endParaRPr lang="de-DE" sz="2300" b="1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755D735-9DA3-4608-A2BC-CBD5A224D36B}"/>
                </a:ext>
              </a:extLst>
            </p:cNvPr>
            <p:cNvSpPr txBox="1"/>
            <p:nvPr/>
          </p:nvSpPr>
          <p:spPr>
            <a:xfrm>
              <a:off x="1602171" y="5640233"/>
              <a:ext cx="7529604" cy="11541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de-DE" sz="2300" b="1" dirty="0">
                  <a:solidFill>
                    <a:schemeClr val="bg1"/>
                  </a:solidFill>
                  <a:latin typeface="Calibri" pitchFamily="34" charset="0"/>
                </a:rPr>
                <a:t>The Technological </a:t>
              </a:r>
              <a:r>
                <a:rPr lang="de-DE" sz="2300" b="1" dirty="0" err="1">
                  <a:solidFill>
                    <a:schemeClr val="bg1"/>
                  </a:solidFill>
                  <a:latin typeface="Calibri" pitchFamily="34" charset="0"/>
                </a:rPr>
                <a:t>gap</a:t>
              </a:r>
              <a:r>
                <a:rPr lang="de-DE" sz="2300" b="1" dirty="0">
                  <a:solidFill>
                    <a:schemeClr val="bg1"/>
                  </a:solidFill>
                  <a:latin typeface="Calibri" pitchFamily="34" charset="0"/>
                </a:rPr>
                <a:t>: </a:t>
              </a:r>
            </a:p>
            <a:p>
              <a:pPr algn="l"/>
              <a:r>
                <a:rPr lang="en-US" sz="2300" b="1" dirty="0">
                  <a:solidFill>
                    <a:schemeClr val="bg1"/>
                  </a:solidFill>
                  <a:latin typeface="Calibri" pitchFamily="34" charset="0"/>
                </a:rPr>
                <a:t>failure of past research to utilize modern computational tools (GIS/Machine Learning) in this specific area</a:t>
              </a:r>
              <a:endParaRPr lang="de-DE" sz="2300" b="1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674F88DC-3E92-4F4F-8EA4-F89574FE2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980728"/>
              <a:ext cx="9144000" cy="0"/>
            </a:xfrm>
            <a:prstGeom prst="line">
              <a:avLst/>
            </a:prstGeom>
            <a:noFill/>
            <a:ln w="12700">
              <a:solidFill>
                <a:srgbClr val="66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CD966A7E-6A57-48B0-86A1-26EE11E6B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305797"/>
              <a:ext cx="2952328" cy="584775"/>
            </a:xfrm>
            <a:prstGeom prst="rect">
              <a:avLst/>
            </a:prstGeom>
            <a:noFill/>
            <a:ln w="38100">
              <a:solidFill>
                <a:srgbClr val="00B0F0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lang="en-US" sz="3200" b="1" dirty="0">
                  <a:solidFill>
                    <a:srgbClr val="FFFF00"/>
                  </a:solidFill>
                  <a:latin typeface="Calibri" pitchFamily="34" charset="0"/>
                </a:rPr>
                <a:t>1.Introduction…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512885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Line 9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83C93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762" name="Line 1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7CB198-DBFA-4BBA-A985-D96175A0E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399" y="11112"/>
            <a:ext cx="963663" cy="932394"/>
          </a:xfrm>
          <a:prstGeom prst="rect">
            <a:avLst/>
          </a:prstGeom>
        </p:spPr>
      </p:pic>
      <p:sp>
        <p:nvSpPr>
          <p:cNvPr id="11" name="Line 17">
            <a:extLst>
              <a:ext uri="{FF2B5EF4-FFF2-40B4-BE49-F238E27FC236}">
                <a16:creationId xmlns:a16="http://schemas.microsoft.com/office/drawing/2014/main" id="{501F91EB-BC72-497E-A37D-5025F5759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-7938" y="685641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62E8B166-5784-4E1B-B80C-7FB0EE2E2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182524"/>
            <a:ext cx="3312807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2300" b="1" dirty="0">
                <a:solidFill>
                  <a:srgbClr val="FFFF00"/>
                </a:solidFill>
                <a:latin typeface="Calibri" pitchFamily="34" charset="0"/>
              </a:rPr>
              <a:t>1.3. </a:t>
            </a:r>
            <a:r>
              <a:rPr lang="en-US" sz="2300" b="1" dirty="0">
                <a:solidFill>
                  <a:srgbClr val="FFFF00"/>
                </a:solidFill>
                <a:latin typeface="Calibri" pitchFamily="34" charset="0"/>
              </a:rPr>
              <a:t>Research objectives 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48C39802-623D-4279-8C14-B8E01D74D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944849"/>
            <a:ext cx="2461885" cy="2569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2300" b="1" dirty="0">
                <a:solidFill>
                  <a:srgbClr val="FFFF00"/>
                </a:solidFill>
                <a:latin typeface="Calibri" pitchFamily="34" charset="0"/>
              </a:rPr>
              <a:t>1.4. Hypotheses :</a:t>
            </a:r>
          </a:p>
          <a:p>
            <a:pPr algn="l">
              <a:spcBef>
                <a:spcPct val="50000"/>
              </a:spcBef>
            </a:pPr>
            <a:r>
              <a:rPr lang="en-GB" sz="2300" b="1" dirty="0">
                <a:solidFill>
                  <a:srgbClr val="FFFF00"/>
                </a:solidFill>
                <a:latin typeface="Calibri" pitchFamily="34" charset="0"/>
              </a:rPr>
              <a:t>	-</a:t>
            </a:r>
          </a:p>
          <a:p>
            <a:pPr algn="l">
              <a:spcBef>
                <a:spcPct val="50000"/>
              </a:spcBef>
            </a:pPr>
            <a:r>
              <a:rPr lang="en-GB" sz="2300" b="1" dirty="0">
                <a:solidFill>
                  <a:srgbClr val="FFFF00"/>
                </a:solidFill>
                <a:latin typeface="Calibri" pitchFamily="34" charset="0"/>
              </a:rPr>
              <a:t>	-</a:t>
            </a:r>
          </a:p>
          <a:p>
            <a:pPr algn="l">
              <a:spcBef>
                <a:spcPct val="50000"/>
              </a:spcBef>
            </a:pPr>
            <a:r>
              <a:rPr lang="en-GB" sz="2300" b="1" dirty="0">
                <a:solidFill>
                  <a:srgbClr val="FFFF00"/>
                </a:solidFill>
                <a:latin typeface="Calibri" pitchFamily="34" charset="0"/>
              </a:rPr>
              <a:t>	-</a:t>
            </a:r>
          </a:p>
          <a:p>
            <a:pPr algn="l">
              <a:spcBef>
                <a:spcPct val="50000"/>
              </a:spcBef>
            </a:pPr>
            <a:r>
              <a:rPr lang="en-GB" sz="2300" b="1" dirty="0">
                <a:solidFill>
                  <a:srgbClr val="FFFF00"/>
                </a:solidFill>
                <a:latin typeface="Calibri" pitchFamily="34" charset="0"/>
              </a:rPr>
              <a:t>	-</a:t>
            </a:r>
            <a:endParaRPr lang="en-US" sz="23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87CB8-E636-4472-BAD2-8E26FD8A2D64}"/>
              </a:ext>
            </a:extLst>
          </p:cNvPr>
          <p:cNvSpPr txBox="1"/>
          <p:nvPr/>
        </p:nvSpPr>
        <p:spPr>
          <a:xfrm>
            <a:off x="1043608" y="1974612"/>
            <a:ext cx="28803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300" b="1" dirty="0">
                <a:solidFill>
                  <a:schemeClr val="bg1"/>
                </a:solidFill>
                <a:latin typeface="Calibri" pitchFamily="34" charset="0"/>
              </a:rPr>
              <a:t>t</a:t>
            </a:r>
            <a:r>
              <a:rPr lang="en-US" sz="2300" b="1" dirty="0">
                <a:solidFill>
                  <a:schemeClr val="bg1"/>
                </a:solidFill>
                <a:latin typeface="Calibri" pitchFamily="34" charset="0"/>
              </a:rPr>
              <a:t>he o</a:t>
            </a:r>
            <a:r>
              <a:rPr lang="en-GB" sz="2300" b="1" dirty="0" err="1">
                <a:solidFill>
                  <a:schemeClr val="bg1"/>
                </a:solidFill>
                <a:latin typeface="Calibri" pitchFamily="34" charset="0"/>
              </a:rPr>
              <a:t>verall</a:t>
            </a:r>
            <a:r>
              <a:rPr lang="en-GB" sz="2300" b="1" dirty="0">
                <a:solidFill>
                  <a:schemeClr val="bg1"/>
                </a:solidFill>
                <a:latin typeface="Calibri" pitchFamily="34" charset="0"/>
              </a:rPr>
              <a:t> objective </a:t>
            </a:r>
            <a:r>
              <a:rPr lang="de-DE" sz="2300" b="1" dirty="0">
                <a:solidFill>
                  <a:schemeClr val="bg1"/>
                </a:solidFill>
                <a:latin typeface="Calibri" pitchFamily="34" charset="0"/>
              </a:rPr>
              <a:t>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CB923A-5D30-40F1-AAAF-AA22D3565E31}"/>
              </a:ext>
            </a:extLst>
          </p:cNvPr>
          <p:cNvSpPr txBox="1"/>
          <p:nvPr/>
        </p:nvSpPr>
        <p:spPr>
          <a:xfrm>
            <a:off x="827584" y="2910716"/>
            <a:ext cx="309634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300" b="1" dirty="0">
                <a:solidFill>
                  <a:schemeClr val="bg1"/>
                </a:solidFill>
                <a:latin typeface="Calibri" pitchFamily="34" charset="0"/>
              </a:rPr>
              <a:t>4 s</a:t>
            </a:r>
            <a:r>
              <a:rPr lang="en-GB" sz="2300" b="1" dirty="0" err="1">
                <a:solidFill>
                  <a:schemeClr val="bg1"/>
                </a:solidFill>
                <a:latin typeface="Calibri" pitchFamily="34" charset="0"/>
              </a:rPr>
              <a:t>pecific</a:t>
            </a:r>
            <a:r>
              <a:rPr lang="en-GB" sz="2300" b="1" dirty="0">
                <a:solidFill>
                  <a:schemeClr val="bg1"/>
                </a:solidFill>
                <a:latin typeface="Calibri" pitchFamily="34" charset="0"/>
              </a:rPr>
              <a:t> objectives</a:t>
            </a:r>
            <a:r>
              <a:rPr lang="de-DE" sz="2300" b="1" dirty="0">
                <a:solidFill>
                  <a:schemeClr val="bg1"/>
                </a:solidFill>
                <a:latin typeface="Calibri" pitchFamily="34" charset="0"/>
              </a:rPr>
              <a:t>:</a:t>
            </a:r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8D565251-2D04-47C2-A968-268C60A1A5D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980728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1236457A-6AED-4791-9FCC-D6D223C33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305797"/>
            <a:ext cx="2952328" cy="584775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1.Introduction…</a:t>
            </a:r>
          </a:p>
        </p:txBody>
      </p:sp>
    </p:spTree>
    <p:extLst>
      <p:ext uri="{BB962C8B-B14F-4D97-AF65-F5344CB8AC3E}">
        <p14:creationId xmlns:p14="http://schemas.microsoft.com/office/powerpoint/2010/main" val="123826031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Line 9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83C93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762" name="Line 1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7">
            <a:extLst>
              <a:ext uri="{FF2B5EF4-FFF2-40B4-BE49-F238E27FC236}">
                <a16:creationId xmlns:a16="http://schemas.microsoft.com/office/drawing/2014/main" id="{501F91EB-BC72-497E-A37D-5025F5759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-7938" y="685641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534D783-B7A6-4B4D-A169-8161909A8D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357742"/>
              </p:ext>
            </p:extLst>
          </p:nvPr>
        </p:nvGraphicFramePr>
        <p:xfrm>
          <a:off x="1187624" y="764707"/>
          <a:ext cx="6120680" cy="5976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Document" r:id="rId3" imgW="5757666" imgH="6140741" progId="Word.Document.12">
                  <p:embed/>
                </p:oleObj>
              </mc:Choice>
              <mc:Fallback>
                <p:oleObj name="Document" r:id="rId3" imgW="5757666" imgH="6140741" progId="Word.Document.12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534D783-B7A6-4B4D-A169-8161909A8D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624" y="764707"/>
                        <a:ext cx="6120680" cy="597666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6">
            <a:extLst>
              <a:ext uri="{FF2B5EF4-FFF2-40B4-BE49-F238E27FC236}">
                <a16:creationId xmlns:a16="http://schemas.microsoft.com/office/drawing/2014/main" id="{7687B005-ADD2-4816-A2F6-F740C5DF0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22410"/>
            <a:ext cx="2088232" cy="584775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Work plan</a:t>
            </a:r>
          </a:p>
        </p:txBody>
      </p:sp>
    </p:spTree>
    <p:extLst>
      <p:ext uri="{BB962C8B-B14F-4D97-AF65-F5344CB8AC3E}">
        <p14:creationId xmlns:p14="http://schemas.microsoft.com/office/powerpoint/2010/main" val="11130010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Line 9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83C93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762" name="Line 1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7CB198-DBFA-4BBA-A985-D96175A0E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399" y="11112"/>
            <a:ext cx="963663" cy="932394"/>
          </a:xfrm>
          <a:prstGeom prst="rect">
            <a:avLst/>
          </a:prstGeom>
        </p:spPr>
      </p:pic>
      <p:sp>
        <p:nvSpPr>
          <p:cNvPr id="11" name="Line 17">
            <a:extLst>
              <a:ext uri="{FF2B5EF4-FFF2-40B4-BE49-F238E27FC236}">
                <a16:creationId xmlns:a16="http://schemas.microsoft.com/office/drawing/2014/main" id="{501F91EB-BC72-497E-A37D-5025F5759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-7938" y="685641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92AC8C69-D039-4971-9E22-405EF96D1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770900"/>
            <a:ext cx="2144759" cy="50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300" b="1" u="sng" dirty="0">
                <a:solidFill>
                  <a:srgbClr val="FFFF00"/>
                </a:solidFill>
                <a:latin typeface="Calibri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Rafique (2023)</a:t>
            </a:r>
            <a:endParaRPr lang="en-GB" sz="2300" b="1" u="sng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82E854A4-F092-415B-ABD8-2C332DBD9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01" y="1266844"/>
            <a:ext cx="2464515" cy="50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300" b="1" u="sng" dirty="0">
                <a:solidFill>
                  <a:srgbClr val="FFFF00"/>
                </a:solidFill>
                <a:latin typeface="Calibri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Grigorieva (2023)</a:t>
            </a:r>
            <a:endParaRPr lang="en-GB" sz="2300" b="1" u="sng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2D469CB4-11A6-41D5-9B0A-F74908669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58" y="5371300"/>
            <a:ext cx="8040966" cy="50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300" b="1" u="sng" dirty="0">
                <a:solidFill>
                  <a:srgbClr val="FFFF00"/>
                </a:solidFill>
                <a:latin typeface="Calibri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Kazemi </a:t>
            </a:r>
            <a:r>
              <a:rPr lang="en-GB" sz="2300" b="1" u="sng" dirty="0" err="1">
                <a:solidFill>
                  <a:srgbClr val="FFFF00"/>
                </a:solidFill>
                <a:latin typeface="Calibri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Garajeh</a:t>
            </a:r>
            <a:r>
              <a:rPr lang="en-GB" sz="2300" b="1" u="sng" dirty="0">
                <a:solidFill>
                  <a:srgbClr val="FFFF00"/>
                </a:solidFill>
                <a:latin typeface="Calibri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M., </a:t>
            </a:r>
            <a:r>
              <a:rPr lang="en-GB" sz="2300" b="1" u="sng" dirty="0" err="1">
                <a:solidFill>
                  <a:srgbClr val="FFFF00"/>
                </a:solidFill>
                <a:latin typeface="Calibri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Salmani</a:t>
            </a:r>
            <a:r>
              <a:rPr lang="en-GB" sz="2300" b="1" u="sng" dirty="0">
                <a:solidFill>
                  <a:srgbClr val="FFFF00"/>
                </a:solidFill>
                <a:latin typeface="Calibri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B., </a:t>
            </a:r>
            <a:r>
              <a:rPr lang="en-GB" sz="2300" b="1" u="sng" dirty="0" err="1">
                <a:solidFill>
                  <a:srgbClr val="FFFF00"/>
                </a:solidFill>
                <a:latin typeface="Calibri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Zare</a:t>
            </a:r>
            <a:r>
              <a:rPr lang="en-GB" sz="2300" b="1" u="sng" dirty="0">
                <a:solidFill>
                  <a:srgbClr val="FFFF00"/>
                </a:solidFill>
                <a:latin typeface="Calibri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2300" b="1" u="sng" dirty="0" err="1">
                <a:solidFill>
                  <a:srgbClr val="FFFF00"/>
                </a:solidFill>
                <a:latin typeface="Calibri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Naghadehi</a:t>
            </a:r>
            <a:r>
              <a:rPr lang="en-GB" sz="2300" b="1" u="sng" dirty="0">
                <a:solidFill>
                  <a:srgbClr val="FFFF00"/>
                </a:solidFill>
                <a:latin typeface="Calibri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S. et al. (2023) </a:t>
            </a:r>
            <a:endParaRPr lang="de-DE" sz="2300" b="1" u="sng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27C89186-3C30-4976-8979-12535C5D0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2" y="894492"/>
            <a:ext cx="5078826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300" b="1" dirty="0">
                <a:solidFill>
                  <a:srgbClr val="FFFF00"/>
                </a:solidFill>
                <a:latin typeface="Calibri" pitchFamily="34" charset="0"/>
              </a:rPr>
              <a:t>An overview of </a:t>
            </a:r>
            <a:r>
              <a:rPr lang="en-GB" sz="2300" b="1" dirty="0">
                <a:solidFill>
                  <a:srgbClr val="FFFF00"/>
                </a:solidFill>
                <a:latin typeface="Calibri" pitchFamily="34" charset="0"/>
              </a:rPr>
              <a:t>previous studies</a:t>
            </a:r>
            <a:r>
              <a:rPr lang="en-US" sz="2300" b="1" dirty="0">
                <a:solidFill>
                  <a:srgbClr val="FFFF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FA91F9-FAC5-4A08-894C-8046CEB3E0F5}"/>
              </a:ext>
            </a:extLst>
          </p:cNvPr>
          <p:cNvSpPr txBox="1"/>
          <p:nvPr/>
        </p:nvSpPr>
        <p:spPr>
          <a:xfrm>
            <a:off x="430853" y="2478668"/>
            <a:ext cx="5149259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300" b="1" u="sng" dirty="0" err="1">
                <a:solidFill>
                  <a:srgbClr val="FFFF00"/>
                </a:solidFill>
                <a:latin typeface="Calibri" pitchFamily="34" charset="0"/>
              </a:rPr>
              <a:t>Kipkulei</a:t>
            </a:r>
            <a:r>
              <a:rPr lang="it-IT" sz="2300" b="1" u="sng" dirty="0">
                <a:solidFill>
                  <a:srgbClr val="FFFF00"/>
                </a:solidFill>
                <a:latin typeface="Calibri" pitchFamily="34" charset="0"/>
              </a:rPr>
              <a:t>, </a:t>
            </a:r>
            <a:r>
              <a:rPr lang="it-IT" sz="2300" b="1" u="sng" dirty="0" err="1">
                <a:solidFill>
                  <a:srgbClr val="FFFF00"/>
                </a:solidFill>
                <a:latin typeface="Calibri" pitchFamily="34" charset="0"/>
              </a:rPr>
              <a:t>Bellingrath</a:t>
            </a:r>
            <a:r>
              <a:rPr lang="it-IT" sz="2300" b="1" u="sng" dirty="0">
                <a:solidFill>
                  <a:srgbClr val="FFFF00"/>
                </a:solidFill>
                <a:latin typeface="Calibri" pitchFamily="34" charset="0"/>
              </a:rPr>
              <a:t>-Kimura, et al., 2025</a:t>
            </a:r>
            <a:endParaRPr lang="de-DE" sz="2300" b="1" u="sng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235EDC-8EFE-4162-9A5D-E9AA17A7C78A}"/>
              </a:ext>
            </a:extLst>
          </p:cNvPr>
          <p:cNvSpPr txBox="1"/>
          <p:nvPr/>
        </p:nvSpPr>
        <p:spPr>
          <a:xfrm>
            <a:off x="332396" y="2967335"/>
            <a:ext cx="2583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300" b="1" u="sng" dirty="0" err="1">
                <a:solidFill>
                  <a:srgbClr val="FFFF00"/>
                </a:solidFill>
                <a:latin typeface="Calibri" pitchFamily="34" charset="0"/>
              </a:rPr>
              <a:t>Ocwa</a:t>
            </a:r>
            <a:r>
              <a:rPr lang="de-DE" sz="2300" b="1" u="sng" dirty="0">
                <a:solidFill>
                  <a:srgbClr val="FFFF00"/>
                </a:solidFill>
                <a:latin typeface="Calibri" pitchFamily="34" charset="0"/>
              </a:rPr>
              <a:t> et al. (2023)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00595C-D3A8-46C1-AFF1-B870A63A7641}"/>
              </a:ext>
            </a:extLst>
          </p:cNvPr>
          <p:cNvSpPr txBox="1"/>
          <p:nvPr/>
        </p:nvSpPr>
        <p:spPr>
          <a:xfrm>
            <a:off x="307459" y="3558788"/>
            <a:ext cx="2248317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u="sng" dirty="0">
                <a:solidFill>
                  <a:srgbClr val="FFFF00"/>
                </a:solidFill>
                <a:latin typeface="Calibri" pitchFamily="34" charset="0"/>
              </a:rPr>
              <a:t>Li &amp; Tian (2024)</a:t>
            </a:r>
            <a:r>
              <a:rPr lang="de-DE" sz="2300" b="1" u="sng" dirty="0">
                <a:solidFill>
                  <a:srgbClr val="FFFF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11DA65-38A8-47D6-8F28-5F6998E6CB6D}"/>
              </a:ext>
            </a:extLst>
          </p:cNvPr>
          <p:cNvSpPr txBox="1"/>
          <p:nvPr/>
        </p:nvSpPr>
        <p:spPr>
          <a:xfrm>
            <a:off x="347026" y="4119463"/>
            <a:ext cx="35048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300" b="1" u="sng" dirty="0">
                <a:solidFill>
                  <a:srgbClr val="FFFF00"/>
                </a:solidFill>
                <a:latin typeface="Calibri" pitchFamily="34" charset="0"/>
              </a:rPr>
              <a:t>Kipkulei, Boitt, et al., 2025 </a:t>
            </a:r>
            <a:endParaRPr lang="de-DE" sz="2300" b="1" u="sng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B96634-9E92-426D-BC62-FC34BE81A2B1}"/>
              </a:ext>
            </a:extLst>
          </p:cNvPr>
          <p:cNvSpPr txBox="1"/>
          <p:nvPr/>
        </p:nvSpPr>
        <p:spPr>
          <a:xfrm>
            <a:off x="329547" y="4782924"/>
            <a:ext cx="6042653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u="sng" dirty="0">
                <a:solidFill>
                  <a:srgbClr val="FFFF00"/>
                </a:solidFill>
                <a:latin typeface="Calibri" pitchFamily="34" charset="0"/>
              </a:rPr>
              <a:t>Kumar et al., 2021; Ma, X., Li, L., &amp; Wu, Y., 2025 </a:t>
            </a:r>
            <a:endParaRPr lang="de-DE" sz="2300" b="1" u="sng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1C924B-611B-474D-AA3B-6FF14562418F}"/>
              </a:ext>
            </a:extLst>
          </p:cNvPr>
          <p:cNvSpPr txBox="1"/>
          <p:nvPr/>
        </p:nvSpPr>
        <p:spPr>
          <a:xfrm>
            <a:off x="306367" y="6165304"/>
            <a:ext cx="5682613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u="sng" dirty="0" err="1">
                <a:solidFill>
                  <a:srgbClr val="FFFF00"/>
                </a:solidFill>
                <a:latin typeface="Calibri" pitchFamily="34" charset="0"/>
              </a:rPr>
              <a:t>Mahlayeye</a:t>
            </a:r>
            <a:r>
              <a:rPr lang="en-US" sz="2300" b="1" u="sng" dirty="0">
                <a:solidFill>
                  <a:srgbClr val="FFFF00"/>
                </a:solidFill>
                <a:latin typeface="Calibri" pitchFamily="34" charset="0"/>
              </a:rPr>
              <a:t>, </a:t>
            </a:r>
            <a:r>
              <a:rPr lang="en-US" sz="2300" b="1" u="sng" dirty="0" err="1">
                <a:solidFill>
                  <a:srgbClr val="FFFF00"/>
                </a:solidFill>
                <a:latin typeface="Calibri" pitchFamily="34" charset="0"/>
              </a:rPr>
              <a:t>Darvishzadeh</a:t>
            </a:r>
            <a:r>
              <a:rPr lang="en-US" sz="2300" b="1" u="sng" dirty="0">
                <a:solidFill>
                  <a:srgbClr val="FFFF00"/>
                </a:solidFill>
                <a:latin typeface="Calibri" pitchFamily="34" charset="0"/>
              </a:rPr>
              <a:t>, and Nelson (2024) </a:t>
            </a:r>
            <a:endParaRPr lang="de-DE" sz="2300" b="1" u="sng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8DC17137-AAB1-4709-86F2-8A378E0B1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980728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Text Box 16">
            <a:extLst>
              <a:ext uri="{FF2B5EF4-FFF2-40B4-BE49-F238E27FC236}">
                <a16:creationId xmlns:a16="http://schemas.microsoft.com/office/drawing/2014/main" id="{164DB37A-1A83-4AD7-B660-E10CE7AA2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33376"/>
            <a:ext cx="3888432" cy="584775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2.Literature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7755807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9" grpId="0"/>
      <p:bldP spid="20" grpId="0"/>
      <p:bldP spid="21" grpId="0"/>
      <p:bldP spid="22" grpId="0"/>
      <p:bldP spid="26" grpId="0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Line 9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83C93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762" name="Line 1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7CB198-DBFA-4BBA-A985-D96175A0E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399" y="11112"/>
            <a:ext cx="963663" cy="932394"/>
          </a:xfrm>
          <a:prstGeom prst="rect">
            <a:avLst/>
          </a:prstGeom>
        </p:spPr>
      </p:pic>
      <p:sp>
        <p:nvSpPr>
          <p:cNvPr id="11" name="Line 17">
            <a:extLst>
              <a:ext uri="{FF2B5EF4-FFF2-40B4-BE49-F238E27FC236}">
                <a16:creationId xmlns:a16="http://schemas.microsoft.com/office/drawing/2014/main" id="{501F91EB-BC72-497E-A37D-5025F5759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-7938" y="685641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470CFFC9-EEE4-4B10-AAA5-4F38277A5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33376"/>
            <a:ext cx="4392488" cy="584775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2.Literature review ….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E9821D-39A1-46AE-80C8-7B4803891CD1}"/>
              </a:ext>
            </a:extLst>
          </p:cNvPr>
          <p:cNvSpPr txBox="1"/>
          <p:nvPr/>
        </p:nvSpPr>
        <p:spPr>
          <a:xfrm>
            <a:off x="119921" y="2766700"/>
            <a:ext cx="207581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300" b="1" u="sng" dirty="0">
                <a:solidFill>
                  <a:srgbClr val="FFFF00"/>
                </a:solidFill>
                <a:latin typeface="Calibri" pitchFamily="34" charset="0"/>
              </a:rPr>
              <a:t>Li et al.(2022)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882CFD-8AA1-467C-955A-F4A94DBE3AD1}"/>
              </a:ext>
            </a:extLst>
          </p:cNvPr>
          <p:cNvSpPr txBox="1"/>
          <p:nvPr/>
        </p:nvSpPr>
        <p:spPr>
          <a:xfrm>
            <a:off x="154684" y="3558788"/>
            <a:ext cx="664956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u="sng" dirty="0" err="1">
                <a:solidFill>
                  <a:srgbClr val="FFFF00"/>
                </a:solidFill>
                <a:latin typeface="Calibri" pitchFamily="34" charset="0"/>
              </a:rPr>
              <a:t>Alamanos</a:t>
            </a:r>
            <a:r>
              <a:rPr lang="en-US" sz="2300" b="1" u="sng" dirty="0">
                <a:solidFill>
                  <a:srgbClr val="FFFF00"/>
                </a:solidFill>
                <a:latin typeface="Calibri" pitchFamily="34" charset="0"/>
              </a:rPr>
              <a:t>, A., Rolston, A., &amp; </a:t>
            </a:r>
            <a:r>
              <a:rPr lang="en-US" sz="2300" b="1" u="sng" dirty="0" err="1">
                <a:solidFill>
                  <a:srgbClr val="FFFF00"/>
                </a:solidFill>
                <a:latin typeface="Calibri" pitchFamily="34" charset="0"/>
              </a:rPr>
              <a:t>Papaioannou</a:t>
            </a:r>
            <a:r>
              <a:rPr lang="en-US" sz="2300" b="1" u="sng" dirty="0">
                <a:solidFill>
                  <a:srgbClr val="FFFF00"/>
                </a:solidFill>
                <a:latin typeface="Calibri" pitchFamily="34" charset="0"/>
              </a:rPr>
              <a:t>, G. (2021) </a:t>
            </a:r>
            <a:endParaRPr lang="de-DE" sz="2300" b="1" u="sng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9ECD6F-C708-4FC7-B9CA-2D404FD7D862}"/>
              </a:ext>
            </a:extLst>
          </p:cNvPr>
          <p:cNvSpPr txBox="1"/>
          <p:nvPr/>
        </p:nvSpPr>
        <p:spPr>
          <a:xfrm>
            <a:off x="144577" y="2031231"/>
            <a:ext cx="2483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u="sng" dirty="0">
                <a:solidFill>
                  <a:srgbClr val="FFFF00"/>
                </a:solidFill>
                <a:latin typeface="Calibri" pitchFamily="34" charset="0"/>
              </a:rPr>
              <a:t>Tufail et al (2025)</a:t>
            </a:r>
            <a:endParaRPr lang="de-DE" sz="2300" b="1" u="sng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167C4A34-F84A-4340-BBD9-E3C27C21D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3943" y="4688534"/>
            <a:ext cx="6649564" cy="94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361950" indent="-88900" algn="just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300" b="1" dirty="0">
                <a:solidFill>
                  <a:srgbClr val="FFFF00"/>
                </a:solidFill>
                <a:latin typeface="Calibri" pitchFamily="34" charset="0"/>
              </a:rPr>
              <a:t>Adaptation: P</a:t>
            </a:r>
            <a:r>
              <a:rPr lang="en-GB" sz="2300" b="1" dirty="0" err="1">
                <a:solidFill>
                  <a:srgbClr val="FFFF00"/>
                </a:solidFill>
                <a:latin typeface="Calibri" pitchFamily="34" charset="0"/>
              </a:rPr>
              <a:t>olicies</a:t>
            </a:r>
            <a:r>
              <a:rPr lang="en-GB" sz="2300" b="1" dirty="0">
                <a:solidFill>
                  <a:srgbClr val="FFFF00"/>
                </a:solidFill>
                <a:latin typeface="Calibri" pitchFamily="34" charset="0"/>
              </a:rPr>
              <a:t> and strategies towards climate change adaptation and mitigation in Kenya</a:t>
            </a:r>
            <a:r>
              <a:rPr lang="en-US" sz="2300" b="1" dirty="0">
                <a:solidFill>
                  <a:srgbClr val="FFFF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1BE4AA27-EDFF-43E0-BD50-8A962DA50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980728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93BCA9-225F-4FA6-8DEE-94F3913E2F3D}"/>
              </a:ext>
            </a:extLst>
          </p:cNvPr>
          <p:cNvSpPr txBox="1"/>
          <p:nvPr/>
        </p:nvSpPr>
        <p:spPr>
          <a:xfrm>
            <a:off x="270873" y="1222988"/>
            <a:ext cx="2644943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u="sng" dirty="0">
                <a:solidFill>
                  <a:srgbClr val="FFFF00"/>
                </a:solidFill>
                <a:latin typeface="Calibri" pitchFamily="34" charset="0"/>
              </a:rPr>
              <a:t>Mwangi et al.(2020) </a:t>
            </a:r>
            <a:endParaRPr lang="de-DE" sz="2300" b="1" u="sng" dirty="0">
              <a:solidFill>
                <a:srgbClr val="FFFF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1799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/>
      <p:bldP spid="25" grpId="0"/>
      <p:bldP spid="27" grpId="0"/>
      <p:bldP spid="29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Line 5"/>
          <p:cNvSpPr>
            <a:spLocks noChangeShapeType="1"/>
          </p:cNvSpPr>
          <p:nvPr/>
        </p:nvSpPr>
        <p:spPr bwMode="auto">
          <a:xfrm>
            <a:off x="-7938" y="6845300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875" name="Line 7"/>
          <p:cNvSpPr>
            <a:spLocks noChangeShapeType="1"/>
          </p:cNvSpPr>
          <p:nvPr/>
        </p:nvSpPr>
        <p:spPr bwMode="auto">
          <a:xfrm>
            <a:off x="70778" y="908720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877" name="Line 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124A17-5C46-47B3-9DE1-13B039DE4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00" y="36105"/>
            <a:ext cx="942422" cy="872616"/>
          </a:xfrm>
          <a:prstGeom prst="rect">
            <a:avLst/>
          </a:prstGeom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01250969-800D-4E3D-96A8-D25ED648C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06" y="920764"/>
            <a:ext cx="4830854" cy="50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615950" indent="-342900" algn="l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b="1" dirty="0">
                <a:solidFill>
                  <a:srgbClr val="FFFF00"/>
                </a:solidFill>
                <a:latin typeface="Calibri" pitchFamily="34" charset="0"/>
              </a:rPr>
              <a:t>Study area Kikuyu Sub-County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B76393-101B-4D1E-B292-B842CD96230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27422"/>
            <a:ext cx="8568952" cy="520118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9" name="Text Box 16">
            <a:extLst>
              <a:ext uri="{FF2B5EF4-FFF2-40B4-BE49-F238E27FC236}">
                <a16:creationId xmlns:a16="http://schemas.microsoft.com/office/drawing/2014/main" id="{E13FFA8E-4A86-45CD-9A3C-8207A048C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06" y="145811"/>
            <a:ext cx="4751626" cy="584775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3.</a:t>
            </a:r>
            <a:r>
              <a:rPr lang="de-DE" sz="3200" b="1" dirty="0">
                <a:solidFill>
                  <a:srgbClr val="FFFF00"/>
                </a:solidFill>
                <a:latin typeface="Calibri" pitchFamily="34" charset="0"/>
              </a:rPr>
              <a:t>Material and </a:t>
            </a:r>
            <a:r>
              <a:rPr lang="de-DE" sz="3200" b="1" dirty="0" err="1">
                <a:solidFill>
                  <a:srgbClr val="FFFF00"/>
                </a:solidFill>
                <a:latin typeface="Calibri" pitchFamily="34" charset="0"/>
              </a:rPr>
              <a:t>methods</a:t>
            </a:r>
            <a:endParaRPr lang="en-US" sz="3200" b="1" dirty="0">
              <a:solidFill>
                <a:srgbClr val="FFFF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4536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Line 5"/>
          <p:cNvSpPr>
            <a:spLocks noChangeShapeType="1"/>
          </p:cNvSpPr>
          <p:nvPr/>
        </p:nvSpPr>
        <p:spPr bwMode="auto">
          <a:xfrm>
            <a:off x="-7938" y="6845300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875" name="Line 7"/>
          <p:cNvSpPr>
            <a:spLocks noChangeShapeType="1"/>
          </p:cNvSpPr>
          <p:nvPr/>
        </p:nvSpPr>
        <p:spPr bwMode="auto">
          <a:xfrm>
            <a:off x="70778" y="1052736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877" name="Line 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124A17-5C46-47B3-9DE1-13B039DE4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00" y="36104"/>
            <a:ext cx="942422" cy="98930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AA07281-44C2-4952-8A14-27AA96C187AA}"/>
              </a:ext>
            </a:extLst>
          </p:cNvPr>
          <p:cNvSpPr txBox="1"/>
          <p:nvPr/>
        </p:nvSpPr>
        <p:spPr>
          <a:xfrm>
            <a:off x="49891" y="1311151"/>
            <a:ext cx="39460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300" b="1" dirty="0">
                <a:solidFill>
                  <a:srgbClr val="FFFF00"/>
                </a:solidFill>
                <a:latin typeface="Calibri" pitchFamily="34" charset="0"/>
              </a:rPr>
              <a:t>Data collection and acquisition </a:t>
            </a:r>
            <a:endParaRPr lang="de-DE" sz="23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4F2B94-6D53-46DC-A99C-3CF97B57517B}"/>
              </a:ext>
            </a:extLst>
          </p:cNvPr>
          <p:cNvSpPr txBox="1"/>
          <p:nvPr/>
        </p:nvSpPr>
        <p:spPr>
          <a:xfrm>
            <a:off x="75778" y="5334502"/>
            <a:ext cx="5292080" cy="568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300" b="1" dirty="0">
                <a:solidFill>
                  <a:srgbClr val="FFFF00"/>
                </a:solidFill>
                <a:latin typeface="Calibri" pitchFamily="34" charset="0"/>
              </a:rPr>
              <a:t>Data Screening, cleaning, and processing</a:t>
            </a:r>
            <a:endParaRPr lang="de-DE" sz="23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A79F1F-62A9-424C-ACCF-AA2CBD5A99E5}"/>
              </a:ext>
            </a:extLst>
          </p:cNvPr>
          <p:cNvSpPr txBox="1"/>
          <p:nvPr/>
        </p:nvSpPr>
        <p:spPr>
          <a:xfrm>
            <a:off x="37274" y="6376180"/>
            <a:ext cx="49332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300" b="1" dirty="0">
                <a:solidFill>
                  <a:srgbClr val="FFFF00"/>
                </a:solidFill>
                <a:latin typeface="Calibri" pitchFamily="34" charset="0"/>
              </a:rPr>
              <a:t>Applying Machine Learning techniques </a:t>
            </a:r>
            <a:endParaRPr lang="de-DE" sz="23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B668AA-E73B-4B94-8B9D-6DA91A3D5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125" y="1268760"/>
            <a:ext cx="2869307" cy="5484506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3A1D96BA-EF08-4214-AEB2-D90344DBC7A7}"/>
              </a:ext>
            </a:extLst>
          </p:cNvPr>
          <p:cNvSpPr/>
          <p:nvPr/>
        </p:nvSpPr>
        <p:spPr>
          <a:xfrm rot="19496005">
            <a:off x="4885155" y="6332062"/>
            <a:ext cx="531533" cy="23549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E1CE19-D771-4D9F-8D97-5C34355BDED7}"/>
              </a:ext>
            </a:extLst>
          </p:cNvPr>
          <p:cNvSpPr txBox="1"/>
          <p:nvPr/>
        </p:nvSpPr>
        <p:spPr>
          <a:xfrm>
            <a:off x="971600" y="1837292"/>
            <a:ext cx="2786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FAOSTAT database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8DFAD1-DF08-4E0B-A745-6506CBECF8BA}"/>
              </a:ext>
            </a:extLst>
          </p:cNvPr>
          <p:cNvSpPr txBox="1"/>
          <p:nvPr/>
        </p:nvSpPr>
        <p:spPr>
          <a:xfrm>
            <a:off x="866341" y="2448397"/>
            <a:ext cx="29968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NASA POWER Data </a:t>
            </a:r>
            <a:endParaRPr lang="de-DE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9B9D8F-1CE4-401D-B952-7E39DE431407}"/>
              </a:ext>
            </a:extLst>
          </p:cNvPr>
          <p:cNvSpPr txBox="1"/>
          <p:nvPr/>
        </p:nvSpPr>
        <p:spPr>
          <a:xfrm>
            <a:off x="1058408" y="3190060"/>
            <a:ext cx="2774153" cy="505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USGS Earth Explorer</a:t>
            </a:r>
            <a:endParaRPr lang="en-GB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91977A-EE51-49C2-A1E1-834E56EE1D46}"/>
              </a:ext>
            </a:extLst>
          </p:cNvPr>
          <p:cNvSpPr txBox="1"/>
          <p:nvPr/>
        </p:nvSpPr>
        <p:spPr>
          <a:xfrm>
            <a:off x="296644" y="3945802"/>
            <a:ext cx="5499492" cy="146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Kikuyu Sub-County: Farmer </a:t>
            </a:r>
            <a:r>
              <a:rPr lang="en-GB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Quesionnaire</a:t>
            </a: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Decision-makers questionnaire, </a:t>
            </a:r>
            <a:r>
              <a:rPr lang="en-GB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Kobotoolbox</a:t>
            </a:r>
            <a:endParaRPr lang="en-GB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371B4ED5-0E52-4343-9493-D21C8C62C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06" y="145811"/>
            <a:ext cx="5183674" cy="584775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3.</a:t>
            </a:r>
            <a:r>
              <a:rPr lang="de-DE" sz="3200" b="1" dirty="0">
                <a:solidFill>
                  <a:srgbClr val="FFFF00"/>
                </a:solidFill>
                <a:latin typeface="Calibri" pitchFamily="34" charset="0"/>
              </a:rPr>
              <a:t>Material and </a:t>
            </a:r>
            <a:r>
              <a:rPr lang="de-DE" sz="3200" b="1" dirty="0" err="1">
                <a:solidFill>
                  <a:srgbClr val="FFFF00"/>
                </a:solidFill>
                <a:latin typeface="Calibri" pitchFamily="34" charset="0"/>
              </a:rPr>
              <a:t>methods</a:t>
            </a:r>
            <a:r>
              <a:rPr lang="de-DE" sz="3200" b="1" dirty="0">
                <a:solidFill>
                  <a:srgbClr val="FFFF00"/>
                </a:solidFill>
                <a:latin typeface="Calibri" pitchFamily="34" charset="0"/>
              </a:rPr>
              <a:t> </a:t>
            </a:r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1049378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11" grpId="0" animBg="1"/>
      <p:bldP spid="29" grpId="0"/>
      <p:bldP spid="31" grpId="0"/>
      <p:bldP spid="33" grpId="0"/>
      <p:bldP spid="34" grpId="0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Line 5"/>
          <p:cNvSpPr>
            <a:spLocks noChangeShapeType="1"/>
          </p:cNvSpPr>
          <p:nvPr/>
        </p:nvSpPr>
        <p:spPr bwMode="auto">
          <a:xfrm>
            <a:off x="-7938" y="6845300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875" name="Line 7"/>
          <p:cNvSpPr>
            <a:spLocks noChangeShapeType="1"/>
          </p:cNvSpPr>
          <p:nvPr/>
        </p:nvSpPr>
        <p:spPr bwMode="auto">
          <a:xfrm>
            <a:off x="70778" y="1052736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877" name="Line 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124A17-5C46-47B3-9DE1-13B039DE4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00" y="36104"/>
            <a:ext cx="942422" cy="9893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DBC47F-A11E-421D-BC8D-5827C81E3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1163163"/>
            <a:ext cx="4537879" cy="56794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17658C-3D21-410F-9460-A0D666B94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066" y="1164528"/>
            <a:ext cx="4457933" cy="5679407"/>
          </a:xfrm>
          <a:prstGeom prst="rect">
            <a:avLst/>
          </a:prstGeom>
        </p:spPr>
      </p:pic>
      <p:sp>
        <p:nvSpPr>
          <p:cNvPr id="9" name="Text Box 4">
            <a:extLst>
              <a:ext uri="{FF2B5EF4-FFF2-40B4-BE49-F238E27FC236}">
                <a16:creationId xmlns:a16="http://schemas.microsoft.com/office/drawing/2014/main" id="{2DC0C8C0-7A94-4FBB-869E-FE0CEDA7D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213" y="592799"/>
            <a:ext cx="6768752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300" b="1" dirty="0">
                <a:solidFill>
                  <a:srgbClr val="FFFF00"/>
                </a:solidFill>
                <a:latin typeface="Calibri" pitchFamily="34" charset="0"/>
              </a:rPr>
              <a:t>Remote sensing and GIS, NVDI and spectral signatures</a:t>
            </a:r>
            <a:endParaRPr lang="de-DE" sz="23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15D9C334-1653-4C97-BBBA-B3FA68E8B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78" y="36104"/>
            <a:ext cx="5183674" cy="584775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3.</a:t>
            </a:r>
            <a:r>
              <a:rPr lang="de-DE" sz="3200" b="1" dirty="0">
                <a:solidFill>
                  <a:srgbClr val="FFFF00"/>
                </a:solidFill>
                <a:latin typeface="Calibri" pitchFamily="34" charset="0"/>
              </a:rPr>
              <a:t>Material and </a:t>
            </a:r>
            <a:r>
              <a:rPr lang="de-DE" sz="3200" b="1" dirty="0" err="1">
                <a:solidFill>
                  <a:srgbClr val="FFFF00"/>
                </a:solidFill>
                <a:latin typeface="Calibri" pitchFamily="34" charset="0"/>
              </a:rPr>
              <a:t>methods</a:t>
            </a:r>
            <a:r>
              <a:rPr lang="de-DE" sz="3200" b="1" dirty="0">
                <a:solidFill>
                  <a:srgbClr val="FFFF00"/>
                </a:solidFill>
                <a:latin typeface="Calibri" pitchFamily="34" charset="0"/>
              </a:rPr>
              <a:t> </a:t>
            </a:r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10410957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9BC668-D7CF-4D56-97B0-DB77D4B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INTRODUCCIÓN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5EE44B-BCCF-4427-8CC3-620F3856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71D478-EF74-4A8B-AE00-1C7D383336CB}" type="slidenum">
              <a:rPr lang="es-ES" smtClean="0"/>
              <a:pPr>
                <a:defRPr/>
              </a:pPr>
              <a:t>14</a:t>
            </a:fld>
            <a:endParaRPr lang="es-E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D70C4-6D16-4E59-BCD8-9764BD449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004543"/>
            <a:ext cx="4248472" cy="582699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4D68B7BE-5C5C-4C4A-B816-FCE36905C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07" y="546764"/>
            <a:ext cx="5133953" cy="50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361950" indent="-88900"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GB" b="1" dirty="0">
                <a:solidFill>
                  <a:srgbClr val="FFFF00"/>
                </a:solidFill>
                <a:latin typeface="Calibri" pitchFamily="34" charset="0"/>
              </a:rPr>
              <a:t>5-Decision support System (DSS)</a:t>
            </a:r>
            <a:endParaRPr lang="en-US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6A511847-C021-4D21-B238-D73E4653BB03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980728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F307A2-0ABD-4A0A-A1B3-405A823AA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216" y="11112"/>
            <a:ext cx="853288" cy="753590"/>
          </a:xfrm>
          <a:prstGeom prst="rect">
            <a:avLst/>
          </a:prstGeom>
        </p:spPr>
      </p:pic>
      <p:sp>
        <p:nvSpPr>
          <p:cNvPr id="8" name="Text Box 16">
            <a:extLst>
              <a:ext uri="{FF2B5EF4-FFF2-40B4-BE49-F238E27FC236}">
                <a16:creationId xmlns:a16="http://schemas.microsoft.com/office/drawing/2014/main" id="{023BC3B9-05D7-41ED-B744-BD092F023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4115"/>
            <a:ext cx="5183674" cy="584775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3.</a:t>
            </a:r>
            <a:r>
              <a:rPr lang="de-DE" sz="3200" b="1" dirty="0">
                <a:solidFill>
                  <a:srgbClr val="FFFF00"/>
                </a:solidFill>
                <a:latin typeface="Calibri" pitchFamily="34" charset="0"/>
              </a:rPr>
              <a:t>Material and </a:t>
            </a:r>
            <a:r>
              <a:rPr lang="de-DE" sz="3200" b="1" dirty="0" err="1">
                <a:solidFill>
                  <a:srgbClr val="FFFF00"/>
                </a:solidFill>
                <a:latin typeface="Calibri" pitchFamily="34" charset="0"/>
              </a:rPr>
              <a:t>methods</a:t>
            </a:r>
            <a:r>
              <a:rPr lang="de-DE" sz="3200" b="1" dirty="0">
                <a:solidFill>
                  <a:srgbClr val="FFFF00"/>
                </a:solidFill>
                <a:latin typeface="Calibri" pitchFamily="34" charset="0"/>
              </a:rPr>
              <a:t> </a:t>
            </a:r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….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B24551-AB04-4643-B6E9-4CE8B27F28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7" y="1001017"/>
            <a:ext cx="4752529" cy="582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7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4"/>
          <p:cNvSpPr txBox="1">
            <a:spLocks noChangeArrowheads="1"/>
          </p:cNvSpPr>
          <p:nvPr/>
        </p:nvSpPr>
        <p:spPr bwMode="auto">
          <a:xfrm>
            <a:off x="323529" y="5212105"/>
            <a:ext cx="36724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FFFF00"/>
                </a:solidFill>
                <a:latin typeface="Calibri" pitchFamily="34" charset="0"/>
              </a:rPr>
              <a:t>Model performance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</a:rPr>
              <a:t> </a:t>
            </a:r>
            <a:endParaRPr lang="en-US" sz="32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74755" name="Line 9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83C93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760" name="Line 17"/>
          <p:cNvSpPr>
            <a:spLocks noChangeShapeType="1"/>
          </p:cNvSpPr>
          <p:nvPr/>
        </p:nvSpPr>
        <p:spPr bwMode="auto">
          <a:xfrm>
            <a:off x="-36512" y="83671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2" name="Line 1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3" name="Text Box 16"/>
          <p:cNvSpPr txBox="1">
            <a:spLocks noChangeArrowheads="1"/>
          </p:cNvSpPr>
          <p:nvPr/>
        </p:nvSpPr>
        <p:spPr bwMode="auto">
          <a:xfrm>
            <a:off x="2007938" y="-58559"/>
            <a:ext cx="5112248" cy="707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de-DE" sz="4000" b="1" dirty="0">
                <a:solidFill>
                  <a:srgbClr val="FFFF00"/>
                </a:solidFill>
                <a:latin typeface="Calibri" pitchFamily="34" charset="0"/>
              </a:rPr>
              <a:t>Results &amp; </a:t>
            </a:r>
            <a:r>
              <a:rPr lang="de-DE" sz="4000" b="1" dirty="0" err="1">
                <a:solidFill>
                  <a:srgbClr val="FFFF00"/>
                </a:solidFill>
                <a:latin typeface="Calibri" pitchFamily="34" charset="0"/>
              </a:rPr>
              <a:t>Discussion</a:t>
            </a:r>
            <a:endParaRPr lang="en-GB" sz="40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1" name="Line 17">
            <a:extLst>
              <a:ext uri="{FF2B5EF4-FFF2-40B4-BE49-F238E27FC236}">
                <a16:creationId xmlns:a16="http://schemas.microsoft.com/office/drawing/2014/main" id="{501F91EB-BC72-497E-A37D-5025F5759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-7938" y="685641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21837274-98D3-4723-B4D0-B3616BC3B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76" y="797803"/>
            <a:ext cx="910541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b="1" dirty="0">
                <a:solidFill>
                  <a:srgbClr val="FFFF00"/>
                </a:solidFill>
                <a:latin typeface="Calibri" pitchFamily="34" charset="0"/>
              </a:rPr>
              <a:t>Linear climate sensitivities and scenario projections for maize agroecosystems in Kikuyu Sub-County, Kenya (1981-2022)</a:t>
            </a:r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A7C4F4-5504-438B-891B-5A6B93BB8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3" y="1629258"/>
            <a:ext cx="5515869" cy="302387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DC23EB4-A47A-4EAA-893D-5581C61DB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947142"/>
              </p:ext>
            </p:extLst>
          </p:nvPr>
        </p:nvGraphicFramePr>
        <p:xfrm>
          <a:off x="4598062" y="4521537"/>
          <a:ext cx="3574337" cy="2194944"/>
        </p:xfrm>
        <a:graphic>
          <a:graphicData uri="http://schemas.openxmlformats.org/drawingml/2006/table">
            <a:tbl>
              <a:tblPr firstRow="1" firstCol="1" bandRow="1"/>
              <a:tblGrid>
                <a:gridCol w="2737790">
                  <a:extLst>
                    <a:ext uri="{9D8B030D-6E8A-4147-A177-3AD203B41FA5}">
                      <a16:colId xmlns:a16="http://schemas.microsoft.com/office/drawing/2014/main" val="2941894341"/>
                    </a:ext>
                  </a:extLst>
                </a:gridCol>
                <a:gridCol w="836547">
                  <a:extLst>
                    <a:ext uri="{9D8B030D-6E8A-4147-A177-3AD203B41FA5}">
                      <a16:colId xmlns:a16="http://schemas.microsoft.com/office/drawing/2014/main" val="247268327"/>
                    </a:ext>
                  </a:extLst>
                </a:gridCol>
              </a:tblGrid>
              <a:tr h="189865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Metric  Two-Predictor Three-Predictor</a:t>
                      </a:r>
                      <a:endParaRPr lang="de-DE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48848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i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²                   0.2278        0.2323     </a:t>
                      </a:r>
                      <a:endParaRPr lang="de-DE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de-DE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0673330"/>
                  </a:ext>
                </a:extLst>
              </a:tr>
              <a:tr h="180975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Adjusted R²    0.1882      0.1717</a:t>
                      </a:r>
                      <a:endParaRPr lang="de-DE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32005"/>
                  </a:ext>
                </a:extLst>
              </a:tr>
              <a:tr h="180975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RMSE (t/ha)   0.1615      0.1611</a:t>
                      </a:r>
                      <a:endParaRPr lang="de-DE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533527"/>
                  </a:ext>
                </a:extLst>
              </a:tr>
              <a:tr h="180975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 (t/ha)    0.1279       0.1280</a:t>
                      </a:r>
                      <a:endParaRPr lang="de-DE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378354"/>
                  </a:ext>
                </a:extLst>
              </a:tr>
              <a:tr h="189865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 (t/ha)      0.1635        0.1671</a:t>
                      </a:r>
                      <a:endParaRPr lang="de-DE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49317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F8E7DB05-73AB-4E59-95BB-4332DC0CFF60}"/>
              </a:ext>
            </a:extLst>
          </p:cNvPr>
          <p:cNvSpPr/>
          <p:nvPr/>
        </p:nvSpPr>
        <p:spPr>
          <a:xfrm>
            <a:off x="3923928" y="5428267"/>
            <a:ext cx="477995" cy="160973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4ABBD6-C95F-4CB3-A5FD-FF121FFF3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400" y="11112"/>
            <a:ext cx="853286" cy="82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50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/>
      <p:bldP spid="74763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Line 9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83C93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760" name="Line 17"/>
          <p:cNvSpPr>
            <a:spLocks noChangeShapeType="1"/>
          </p:cNvSpPr>
          <p:nvPr/>
        </p:nvSpPr>
        <p:spPr bwMode="auto">
          <a:xfrm>
            <a:off x="-7938" y="548680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2" name="Line 1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3" name="Text Box 16"/>
          <p:cNvSpPr txBox="1">
            <a:spLocks noChangeArrowheads="1"/>
          </p:cNvSpPr>
          <p:nvPr/>
        </p:nvSpPr>
        <p:spPr bwMode="auto">
          <a:xfrm>
            <a:off x="2007938" y="-58559"/>
            <a:ext cx="5112248" cy="707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de-DE" sz="4000" b="1" dirty="0">
                <a:solidFill>
                  <a:srgbClr val="FFFF00"/>
                </a:solidFill>
                <a:latin typeface="Calibri" pitchFamily="34" charset="0"/>
              </a:rPr>
              <a:t>Results &amp; </a:t>
            </a:r>
            <a:r>
              <a:rPr lang="de-DE" sz="4000" b="1" dirty="0" err="1">
                <a:solidFill>
                  <a:srgbClr val="FFFF00"/>
                </a:solidFill>
                <a:latin typeface="Calibri" pitchFamily="34" charset="0"/>
              </a:rPr>
              <a:t>Discussion</a:t>
            </a:r>
            <a:r>
              <a:rPr lang="de-DE" sz="4000" b="1" dirty="0">
                <a:solidFill>
                  <a:srgbClr val="FFFF00"/>
                </a:solidFill>
                <a:latin typeface="Calibri" pitchFamily="34" charset="0"/>
              </a:rPr>
              <a:t>…</a:t>
            </a:r>
            <a:endParaRPr lang="en-GB" sz="40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1" name="Line 17">
            <a:extLst>
              <a:ext uri="{FF2B5EF4-FFF2-40B4-BE49-F238E27FC236}">
                <a16:creationId xmlns:a16="http://schemas.microsoft.com/office/drawing/2014/main" id="{501F91EB-BC72-497E-A37D-5025F5759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-7938" y="685641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21837274-98D3-4723-B4D0-B3616BC3B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76" y="583970"/>
            <a:ext cx="910541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Integrating Landsat‑derived NDVI and Sentinel‑2 imagery for vegetation dynamics assessment and maize field mapping in Kikuyu Sub-County, Kenya using K‑Means clustering and U‑Net</a:t>
            </a:r>
            <a:r>
              <a:rPr lang="en-GB" b="1" dirty="0">
                <a:solidFill>
                  <a:srgbClr val="FFFF00"/>
                </a:solidFill>
                <a:latin typeface="Calibri" pitchFamily="34" charset="0"/>
              </a:rPr>
              <a:t>)</a:t>
            </a:r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02E2BB-6DF8-465E-87BD-48EF87CA9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26174"/>
            <a:ext cx="7632848" cy="46551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35F5D0-4436-44A8-A966-6C107D290C37}"/>
              </a:ext>
            </a:extLst>
          </p:cNvPr>
          <p:cNvSpPr txBox="1"/>
          <p:nvPr/>
        </p:nvSpPr>
        <p:spPr>
          <a:xfrm>
            <a:off x="863588" y="6277139"/>
            <a:ext cx="7416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</a:rPr>
              <a:t>NDVI time-series 1999-2025 in Kikuyu Sub County</a:t>
            </a:r>
            <a:endParaRPr lang="de-DE" b="1" dirty="0">
              <a:solidFill>
                <a:schemeClr val="bg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3839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3" grpId="0"/>
      <p:bldP spid="12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Line 9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83C93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760" name="Line 17"/>
          <p:cNvSpPr>
            <a:spLocks noChangeShapeType="1"/>
          </p:cNvSpPr>
          <p:nvPr/>
        </p:nvSpPr>
        <p:spPr bwMode="auto">
          <a:xfrm>
            <a:off x="-7938" y="548680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2" name="Line 1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3" name="Text Box 16"/>
          <p:cNvSpPr txBox="1">
            <a:spLocks noChangeArrowheads="1"/>
          </p:cNvSpPr>
          <p:nvPr/>
        </p:nvSpPr>
        <p:spPr bwMode="auto">
          <a:xfrm>
            <a:off x="2007938" y="-58559"/>
            <a:ext cx="5112248" cy="707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de-DE" sz="4000" b="1" dirty="0">
                <a:solidFill>
                  <a:srgbClr val="FFFF00"/>
                </a:solidFill>
                <a:latin typeface="Calibri" pitchFamily="34" charset="0"/>
              </a:rPr>
              <a:t>Results &amp; </a:t>
            </a:r>
            <a:r>
              <a:rPr lang="de-DE" sz="4000" b="1" dirty="0" err="1">
                <a:solidFill>
                  <a:srgbClr val="FFFF00"/>
                </a:solidFill>
                <a:latin typeface="Calibri" pitchFamily="34" charset="0"/>
              </a:rPr>
              <a:t>Discussion</a:t>
            </a:r>
            <a:r>
              <a:rPr lang="de-DE" sz="4000" b="1" dirty="0">
                <a:solidFill>
                  <a:srgbClr val="FFFF00"/>
                </a:solidFill>
                <a:latin typeface="Calibri" pitchFamily="34" charset="0"/>
              </a:rPr>
              <a:t> …</a:t>
            </a:r>
            <a:endParaRPr lang="en-GB" sz="40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1" name="Line 17">
            <a:extLst>
              <a:ext uri="{FF2B5EF4-FFF2-40B4-BE49-F238E27FC236}">
                <a16:creationId xmlns:a16="http://schemas.microsoft.com/office/drawing/2014/main" id="{501F91EB-BC72-497E-A37D-5025F5759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-7938" y="685641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21837274-98D3-4723-B4D0-B3616BC3B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938" y="548680"/>
            <a:ext cx="910541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Integrating Landsat‑derived NDVI and Sentinel‑2 imagery for vegetation dynamics assessment and maize field mapping in Kikuyu Sub-County, Kenya using K‑Means clustering and U‑Net</a:t>
            </a:r>
            <a:r>
              <a:rPr lang="en-GB" b="1" dirty="0">
                <a:solidFill>
                  <a:srgbClr val="FFFF00"/>
                </a:solidFill>
                <a:latin typeface="Calibri" pitchFamily="34" charset="0"/>
              </a:rPr>
              <a:t>)</a:t>
            </a:r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5F5D0-4436-44A8-A966-6C107D290C37}"/>
              </a:ext>
            </a:extLst>
          </p:cNvPr>
          <p:cNvSpPr txBox="1"/>
          <p:nvPr/>
        </p:nvSpPr>
        <p:spPr>
          <a:xfrm>
            <a:off x="6084168" y="3448406"/>
            <a:ext cx="29078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  <a:latin typeface="Calibri" pitchFamily="34" charset="0"/>
              </a:rPr>
              <a:t>Comparison of </a:t>
            </a:r>
          </a:p>
          <a:p>
            <a:pPr algn="just"/>
            <a:r>
              <a:rPr lang="en-US" b="1" dirty="0">
                <a:solidFill>
                  <a:schemeClr val="bg1"/>
                </a:solidFill>
                <a:latin typeface="Calibri" pitchFamily="34" charset="0"/>
              </a:rPr>
              <a:t>K-Means and U-Net (Option A and B) maize-mapping results for Kikuyu Sub-County in 2025</a:t>
            </a:r>
            <a:endParaRPr lang="de-DE" b="1" dirty="0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0EE469-8004-42B2-871A-3086EF8A5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" y="1766655"/>
            <a:ext cx="5904656" cy="5072111"/>
          </a:xfrm>
          <a:prstGeom prst="rect">
            <a:avLst/>
          </a:prstGeom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353A62C2-687C-4844-85E8-87C6E22DBA3E}"/>
              </a:ext>
            </a:extLst>
          </p:cNvPr>
          <p:cNvSpPr/>
          <p:nvPr/>
        </p:nvSpPr>
        <p:spPr>
          <a:xfrm rot="1953816">
            <a:off x="5912594" y="2924947"/>
            <a:ext cx="819646" cy="432045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EE675AD0-72B3-4B84-B136-91DB822005DA}"/>
              </a:ext>
            </a:extLst>
          </p:cNvPr>
          <p:cNvSpPr/>
          <p:nvPr/>
        </p:nvSpPr>
        <p:spPr>
          <a:xfrm rot="19633829">
            <a:off x="5912594" y="5848691"/>
            <a:ext cx="819646" cy="432045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FDCED8-33ED-479A-909D-A3CEFBDDA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682" y="-17264"/>
            <a:ext cx="681830" cy="65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380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3" grpId="0"/>
      <p:bldP spid="12" grpId="0"/>
      <p:bldP spid="14" grpId="0"/>
      <p:bldP spid="5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Line 9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83C93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760" name="Line 17"/>
          <p:cNvSpPr>
            <a:spLocks noChangeShapeType="1"/>
          </p:cNvSpPr>
          <p:nvPr/>
        </p:nvSpPr>
        <p:spPr bwMode="auto">
          <a:xfrm>
            <a:off x="-7938" y="764704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2" name="Line 1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3" name="Text Box 16"/>
          <p:cNvSpPr txBox="1">
            <a:spLocks noChangeArrowheads="1"/>
          </p:cNvSpPr>
          <p:nvPr/>
        </p:nvSpPr>
        <p:spPr bwMode="auto">
          <a:xfrm>
            <a:off x="2007938" y="-58559"/>
            <a:ext cx="5112248" cy="707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de-DE" sz="4000" b="1" dirty="0">
                <a:solidFill>
                  <a:srgbClr val="FFFF00"/>
                </a:solidFill>
                <a:latin typeface="Calibri" pitchFamily="34" charset="0"/>
              </a:rPr>
              <a:t>Results &amp; </a:t>
            </a:r>
            <a:r>
              <a:rPr lang="de-DE" sz="4000" b="1" dirty="0" err="1">
                <a:solidFill>
                  <a:srgbClr val="FFFF00"/>
                </a:solidFill>
                <a:latin typeface="Calibri" pitchFamily="34" charset="0"/>
              </a:rPr>
              <a:t>Discussion</a:t>
            </a:r>
            <a:r>
              <a:rPr lang="de-DE" sz="4000" b="1" dirty="0">
                <a:solidFill>
                  <a:srgbClr val="FFFF00"/>
                </a:solidFill>
                <a:latin typeface="Calibri" pitchFamily="34" charset="0"/>
              </a:rPr>
              <a:t> …</a:t>
            </a:r>
            <a:endParaRPr lang="en-GB" sz="40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1" name="Line 17">
            <a:extLst>
              <a:ext uri="{FF2B5EF4-FFF2-40B4-BE49-F238E27FC236}">
                <a16:creationId xmlns:a16="http://schemas.microsoft.com/office/drawing/2014/main" id="{501F91EB-BC72-497E-A37D-5025F5759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-7938" y="685641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21837274-98D3-4723-B4D0-B3616BC3B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938" y="1148551"/>
            <a:ext cx="910541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Integrating Landsat‑derived NDVI and Sentinel‑2 imagery for vegetation dynamics assessment and maize field mapping in Kikuyu Sub-County, Kenya using K‑Means clustering and U‑Net</a:t>
            </a:r>
            <a:r>
              <a:rPr lang="en-GB" b="1" dirty="0">
                <a:solidFill>
                  <a:srgbClr val="FFFF00"/>
                </a:solidFill>
                <a:latin typeface="Calibri" pitchFamily="34" charset="0"/>
              </a:rPr>
              <a:t>)</a:t>
            </a:r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5F5D0-4436-44A8-A966-6C107D290C37}"/>
              </a:ext>
            </a:extLst>
          </p:cNvPr>
          <p:cNvSpPr txBox="1"/>
          <p:nvPr/>
        </p:nvSpPr>
        <p:spPr>
          <a:xfrm>
            <a:off x="1149047" y="5847655"/>
            <a:ext cx="59847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  <a:latin typeface="Calibri" pitchFamily="34" charset="0"/>
              </a:rPr>
              <a:t>Evaluation metrics for the three approaches</a:t>
            </a:r>
            <a:endParaRPr lang="de-DE" b="1" dirty="0">
              <a:solidFill>
                <a:schemeClr val="bg1"/>
              </a:solidFill>
              <a:latin typeface="Calibri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6830A9-74E4-4C77-AB8E-8837D46A2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116210"/>
              </p:ext>
            </p:extLst>
          </p:nvPr>
        </p:nvGraphicFramePr>
        <p:xfrm>
          <a:off x="164264" y="2632123"/>
          <a:ext cx="8761013" cy="28851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3525">
                  <a:extLst>
                    <a:ext uri="{9D8B030D-6E8A-4147-A177-3AD203B41FA5}">
                      <a16:colId xmlns:a16="http://schemas.microsoft.com/office/drawing/2014/main" val="3208041246"/>
                    </a:ext>
                  </a:extLst>
                </a:gridCol>
                <a:gridCol w="2166613">
                  <a:extLst>
                    <a:ext uri="{9D8B030D-6E8A-4147-A177-3AD203B41FA5}">
                      <a16:colId xmlns:a16="http://schemas.microsoft.com/office/drawing/2014/main" val="3404954155"/>
                    </a:ext>
                  </a:extLst>
                </a:gridCol>
                <a:gridCol w="700882">
                  <a:extLst>
                    <a:ext uri="{9D8B030D-6E8A-4147-A177-3AD203B41FA5}">
                      <a16:colId xmlns:a16="http://schemas.microsoft.com/office/drawing/2014/main" val="3899684273"/>
                    </a:ext>
                  </a:extLst>
                </a:gridCol>
                <a:gridCol w="1044832">
                  <a:extLst>
                    <a:ext uri="{9D8B030D-6E8A-4147-A177-3AD203B41FA5}">
                      <a16:colId xmlns:a16="http://schemas.microsoft.com/office/drawing/2014/main" val="753681124"/>
                    </a:ext>
                  </a:extLst>
                </a:gridCol>
                <a:gridCol w="1083770">
                  <a:extLst>
                    <a:ext uri="{9D8B030D-6E8A-4147-A177-3AD203B41FA5}">
                      <a16:colId xmlns:a16="http://schemas.microsoft.com/office/drawing/2014/main" val="2660439765"/>
                    </a:ext>
                  </a:extLst>
                </a:gridCol>
                <a:gridCol w="889080">
                  <a:extLst>
                    <a:ext uri="{9D8B030D-6E8A-4147-A177-3AD203B41FA5}">
                      <a16:colId xmlns:a16="http://schemas.microsoft.com/office/drawing/2014/main" val="1381193052"/>
                    </a:ext>
                  </a:extLst>
                </a:gridCol>
                <a:gridCol w="1102311">
                  <a:extLst>
                    <a:ext uri="{9D8B030D-6E8A-4147-A177-3AD203B41FA5}">
                      <a16:colId xmlns:a16="http://schemas.microsoft.com/office/drawing/2014/main" val="4049029536"/>
                    </a:ext>
                  </a:extLst>
                </a:gridCol>
              </a:tblGrid>
              <a:tr h="50679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Approach 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supervision</a:t>
                      </a:r>
                      <a:endParaRPr lang="de-DE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 err="1">
                          <a:effectLst/>
                        </a:rPr>
                        <a:t>IoU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F1-score</a:t>
                      </a:r>
                      <a:endParaRPr lang="de-DE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Precision</a:t>
                      </a:r>
                      <a:endParaRPr lang="de-DE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Recall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Accuracy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66159"/>
                  </a:ext>
                </a:extLst>
              </a:tr>
              <a:tr h="792772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K-Means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Unsupervised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0.013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0.025</a:t>
                      </a:r>
                      <a:endParaRPr lang="de-DE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0.013</a:t>
                      </a:r>
                      <a:endParaRPr lang="de-DE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0.451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0.913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0117163"/>
                  </a:ext>
                </a:extLst>
              </a:tr>
              <a:tr h="792772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U-Net Option A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Supervised, trained with proxy labels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0.397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0.568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0.607</a:t>
                      </a:r>
                      <a:endParaRPr lang="de-DE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0.533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0.976</a:t>
                      </a:r>
                      <a:endParaRPr lang="de-DE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4233610"/>
                  </a:ext>
                </a:extLst>
              </a:tr>
              <a:tr h="792772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U-Net Option B</a:t>
                      </a:r>
                      <a:endParaRPr lang="de-DE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Supervised, trained with field survey data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0.403</a:t>
                      </a:r>
                      <a:endParaRPr lang="de-DE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0.574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0.540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0.613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0.955</a:t>
                      </a:r>
                      <a:endParaRPr lang="de-DE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84595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D7AD698-AAF3-487C-B901-6F6093AFB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626" y="11111"/>
            <a:ext cx="752878" cy="72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279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3" grpId="0"/>
      <p:bldP spid="12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Line 9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83C937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760" name="Line 17"/>
          <p:cNvSpPr>
            <a:spLocks noChangeShapeType="1"/>
          </p:cNvSpPr>
          <p:nvPr/>
        </p:nvSpPr>
        <p:spPr bwMode="auto">
          <a:xfrm>
            <a:off x="-7938" y="548680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2" name="Line 1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763" name="Text Box 16"/>
          <p:cNvSpPr txBox="1">
            <a:spLocks noChangeArrowheads="1"/>
          </p:cNvSpPr>
          <p:nvPr/>
        </p:nvSpPr>
        <p:spPr bwMode="auto">
          <a:xfrm>
            <a:off x="2699792" y="-22409"/>
            <a:ext cx="2924102" cy="707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de-DE" sz="4000" b="1" dirty="0" err="1">
                <a:solidFill>
                  <a:srgbClr val="FFFF00"/>
                </a:solidFill>
                <a:latin typeface="Calibri" pitchFamily="34" charset="0"/>
              </a:rPr>
              <a:t>Conclusions</a:t>
            </a:r>
            <a:endParaRPr lang="en-GB" sz="40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1" name="Line 17">
            <a:extLst>
              <a:ext uri="{FF2B5EF4-FFF2-40B4-BE49-F238E27FC236}">
                <a16:creationId xmlns:a16="http://schemas.microsoft.com/office/drawing/2014/main" id="{501F91EB-BC72-497E-A37D-5025F5759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-7938" y="6856412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21837274-98D3-4723-B4D0-B3616BC3B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515" y="649044"/>
            <a:ext cx="842493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23% of maize yield variance were explained by OLS regression models: we trained climate variables </a:t>
            </a:r>
            <a:r>
              <a:rPr lang="de-DE" b="1" dirty="0">
                <a:solidFill>
                  <a:srgbClr val="FFFF00"/>
                </a:solidFill>
                <a:latin typeface="Calibri" pitchFamily="34" charset="0"/>
              </a:rPr>
              <a:t>(T, P, </a:t>
            </a:r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GWETTOP)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87FA92-8440-4EC7-BDE4-D2D939BE3DD3}"/>
              </a:ext>
            </a:extLst>
          </p:cNvPr>
          <p:cNvSpPr txBox="1"/>
          <p:nvPr/>
        </p:nvSpPr>
        <p:spPr>
          <a:xfrm>
            <a:off x="269522" y="1525020"/>
            <a:ext cx="80828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77% are driven by non-climatic factors such as soil health, pest pressure, and management practices</a:t>
            </a:r>
            <a:endParaRPr lang="de-DE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73EB6D-EB34-4704-9521-311D9E39C508}"/>
              </a:ext>
            </a:extLst>
          </p:cNvPr>
          <p:cNvSpPr txBox="1"/>
          <p:nvPr/>
        </p:nvSpPr>
        <p:spPr>
          <a:xfrm>
            <a:off x="143508" y="3717032"/>
            <a:ext cx="8550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We employed a multi-sensor remote sensing approach to map maize distribution, integrating long-term Landsat NDVI trends with high-resolution Sentinel-2 imagery.</a:t>
            </a:r>
            <a:endParaRPr lang="de-DE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B890E1-BF30-4284-BC13-93EF7111B79C}"/>
              </a:ext>
            </a:extLst>
          </p:cNvPr>
          <p:cNvSpPr txBox="1"/>
          <p:nvPr/>
        </p:nvSpPr>
        <p:spPr>
          <a:xfrm>
            <a:off x="1619672" y="4869160"/>
            <a:ext cx="6408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</a:rPr>
              <a:t>27-year NDVI time-series for Kikuyu Sub-County </a:t>
            </a:r>
            <a:endParaRPr lang="de-DE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1789F5-3CC5-4869-973A-23F611F61819}"/>
              </a:ext>
            </a:extLst>
          </p:cNvPr>
          <p:cNvSpPr txBox="1"/>
          <p:nvPr/>
        </p:nvSpPr>
        <p:spPr>
          <a:xfrm>
            <a:off x="1619672" y="5301208"/>
            <a:ext cx="6768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</a:rPr>
              <a:t>Mapping maize distribution for the growing season</a:t>
            </a:r>
            <a:endParaRPr lang="de-DE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A2C2FA-E5BA-4228-B880-C5248F5ECA61}"/>
              </a:ext>
            </a:extLst>
          </p:cNvPr>
          <p:cNvSpPr txBox="1"/>
          <p:nvPr/>
        </p:nvSpPr>
        <p:spPr>
          <a:xfrm>
            <a:off x="1619612" y="5746787"/>
            <a:ext cx="59325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  <a:latin typeface="Calibri" pitchFamily="34" charset="0"/>
              </a:rPr>
              <a:t>Unsupervised K-Means clustering </a:t>
            </a:r>
          </a:p>
          <a:p>
            <a:pPr algn="just"/>
            <a:r>
              <a:rPr lang="en-US" b="1" dirty="0">
                <a:solidFill>
                  <a:schemeClr val="bg1"/>
                </a:solidFill>
                <a:latin typeface="Calibri" pitchFamily="34" charset="0"/>
              </a:rPr>
              <a:t>Supervised U-Net deep learning models </a:t>
            </a:r>
            <a:endParaRPr lang="de-DE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8C06A4-1571-442A-8C70-CE5B1D8CA6F7}"/>
              </a:ext>
            </a:extLst>
          </p:cNvPr>
          <p:cNvSpPr txBox="1"/>
          <p:nvPr/>
        </p:nvSpPr>
        <p:spPr>
          <a:xfrm>
            <a:off x="143508" y="2420888"/>
            <a:ext cx="87309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We trained ML models: Random Forest, Gradient Boosting, </a:t>
            </a:r>
            <a:r>
              <a:rPr lang="en-US" b="1" dirty="0" err="1">
                <a:solidFill>
                  <a:srgbClr val="FFFF00"/>
                </a:solidFill>
                <a:latin typeface="Calibri" pitchFamily="34" charset="0"/>
              </a:rPr>
              <a:t>LightGBM</a:t>
            </a:r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, and </a:t>
            </a:r>
            <a:r>
              <a:rPr lang="en-US" b="1" dirty="0" err="1">
                <a:solidFill>
                  <a:srgbClr val="FFFF00"/>
                </a:solidFill>
                <a:latin typeface="Calibri" pitchFamily="34" charset="0"/>
              </a:rPr>
              <a:t>XGBoost</a:t>
            </a:r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 on farm-level management, inputs, pest pressure, and technology adoption features</a:t>
            </a:r>
            <a:endParaRPr lang="de-DE" b="1" dirty="0">
              <a:solidFill>
                <a:srgbClr val="FFFF00"/>
              </a:solidFill>
              <a:latin typeface="Calibri" pitchFamily="34" charset="0"/>
            </a:endParaRP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66EE9D10-2E7D-4042-A8D3-D0184C9FC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" y="6309320"/>
            <a:ext cx="838836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3200" b="1" dirty="0">
                <a:solidFill>
                  <a:srgbClr val="FF9933"/>
                </a:solidFill>
                <a:latin typeface="Calibri" pitchFamily="34" charset="0"/>
              </a:rPr>
              <a:t>Study limitations and </a:t>
            </a:r>
            <a:r>
              <a:rPr lang="de-DE" sz="3200" b="1" dirty="0" err="1">
                <a:solidFill>
                  <a:srgbClr val="FF9933"/>
                </a:solidFill>
                <a:latin typeface="Calibri" pitchFamily="34" charset="0"/>
              </a:rPr>
              <a:t>future</a:t>
            </a:r>
            <a:r>
              <a:rPr lang="de-DE" sz="3200" b="1" dirty="0">
                <a:solidFill>
                  <a:srgbClr val="FF9933"/>
                </a:solidFill>
                <a:latin typeface="Calibri" pitchFamily="34" charset="0"/>
              </a:rPr>
              <a:t> </a:t>
            </a:r>
            <a:r>
              <a:rPr lang="de-DE" sz="3200" b="1" dirty="0" err="1">
                <a:solidFill>
                  <a:srgbClr val="FF9933"/>
                </a:solidFill>
                <a:latin typeface="Calibri" pitchFamily="34" charset="0"/>
              </a:rPr>
              <a:t>research</a:t>
            </a:r>
            <a:r>
              <a:rPr lang="de-DE" sz="3200" b="1" dirty="0">
                <a:solidFill>
                  <a:srgbClr val="FF9933"/>
                </a:solidFill>
                <a:latin typeface="Calibri" pitchFamily="34" charset="0"/>
              </a:rPr>
              <a:t> </a:t>
            </a:r>
            <a:r>
              <a:rPr lang="de-DE" sz="3200" b="1" dirty="0" err="1">
                <a:solidFill>
                  <a:srgbClr val="FF9933"/>
                </a:solidFill>
                <a:latin typeface="Calibri" pitchFamily="34" charset="0"/>
              </a:rPr>
              <a:t>direction</a:t>
            </a:r>
            <a:endParaRPr lang="en-US" sz="3200" b="1" dirty="0">
              <a:solidFill>
                <a:srgbClr val="FF9933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0761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3" grpId="0"/>
      <p:bldP spid="12" grpId="0"/>
      <p:bldP spid="10" grpId="0"/>
      <p:bldP spid="13" grpId="0"/>
      <p:bldP spid="15" grpId="0"/>
      <p:bldP spid="16" grpId="0"/>
      <p:bldP spid="18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Line 5"/>
          <p:cNvSpPr>
            <a:spLocks noChangeShapeType="1"/>
          </p:cNvSpPr>
          <p:nvPr/>
        </p:nvSpPr>
        <p:spPr bwMode="auto">
          <a:xfrm>
            <a:off x="-7938" y="6845300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7045" name="Line 9"/>
          <p:cNvSpPr>
            <a:spLocks noChangeShapeType="1"/>
          </p:cNvSpPr>
          <p:nvPr/>
        </p:nvSpPr>
        <p:spPr bwMode="auto">
          <a:xfrm>
            <a:off x="-7938" y="1588"/>
            <a:ext cx="9144001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7046" name="Line 492"/>
          <p:cNvSpPr>
            <a:spLocks noChangeShapeType="1"/>
          </p:cNvSpPr>
          <p:nvPr/>
        </p:nvSpPr>
        <p:spPr bwMode="auto">
          <a:xfrm>
            <a:off x="100798" y="6809623"/>
            <a:ext cx="9144000" cy="0"/>
          </a:xfrm>
          <a:prstGeom prst="line">
            <a:avLst/>
          </a:prstGeom>
          <a:noFill/>
          <a:ln w="12700">
            <a:solidFill>
              <a:srgbClr val="66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7047" name="Rectangle 6"/>
          <p:cNvSpPr>
            <a:spLocks noChangeArrowheads="1"/>
          </p:cNvSpPr>
          <p:nvPr/>
        </p:nvSpPr>
        <p:spPr bwMode="auto">
          <a:xfrm>
            <a:off x="2483768" y="1067647"/>
            <a:ext cx="3888432" cy="4881631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square" lIns="36000" rIns="36000" anchor="ctr">
            <a:spAutoFit/>
          </a:bodyPr>
          <a:lstStyle/>
          <a:p>
            <a:pPr marL="361950" indent="-88900" algn="l" eaLnBrk="1" hangingPunct="1">
              <a:lnSpc>
                <a:spcPct val="120000"/>
              </a:lnSpc>
              <a:spcBef>
                <a:spcPts val="600"/>
              </a:spcBef>
            </a:pPr>
            <a:endParaRPr lang="en-US" sz="3600" b="1" dirty="0">
              <a:solidFill>
                <a:srgbClr val="FFFF00"/>
              </a:solidFill>
              <a:latin typeface="Calibri" pitchFamily="34" charset="0"/>
            </a:endParaRPr>
          </a:p>
          <a:p>
            <a:pPr marL="361950" indent="-88900" algn="l" eaLnBrk="1" hangingPunct="1">
              <a:lnSpc>
                <a:spcPct val="120000"/>
              </a:lnSpc>
              <a:spcBef>
                <a:spcPts val="600"/>
              </a:spcBef>
            </a:pPr>
            <a:endParaRPr lang="en-US" sz="3600" b="1" dirty="0">
              <a:solidFill>
                <a:srgbClr val="FFFF00"/>
              </a:solidFill>
              <a:latin typeface="Calibri" pitchFamily="34" charset="0"/>
            </a:endParaRPr>
          </a:p>
          <a:p>
            <a:pPr marL="361950" indent="-88900" algn="l" eaLnBrk="1" hangingPunct="1">
              <a:lnSpc>
                <a:spcPct val="120000"/>
              </a:lnSpc>
              <a:spcBef>
                <a:spcPts val="600"/>
              </a:spcBef>
            </a:pPr>
            <a:endParaRPr lang="en-US" sz="3600" b="1" dirty="0">
              <a:solidFill>
                <a:srgbClr val="FFFF00"/>
              </a:solidFill>
              <a:latin typeface="Calibri" pitchFamily="34" charset="0"/>
            </a:endParaRPr>
          </a:p>
          <a:p>
            <a:pPr marL="361950" indent="-88900" algn="l" eaLnBrk="1" hangingPunct="1">
              <a:lnSpc>
                <a:spcPct val="120000"/>
              </a:lnSpc>
              <a:spcBef>
                <a:spcPts val="600"/>
              </a:spcBef>
            </a:pPr>
            <a:endParaRPr lang="en-US" sz="3600" b="1" dirty="0">
              <a:solidFill>
                <a:srgbClr val="FFFF00"/>
              </a:solidFill>
              <a:latin typeface="Calibri" pitchFamily="34" charset="0"/>
            </a:endParaRPr>
          </a:p>
          <a:p>
            <a:pPr marL="361950" indent="-88900" algn="l" eaLnBrk="1" hangingPunct="1">
              <a:lnSpc>
                <a:spcPct val="120000"/>
              </a:lnSpc>
              <a:spcBef>
                <a:spcPts val="600"/>
              </a:spcBef>
            </a:pPr>
            <a:endParaRPr lang="en-US" sz="3600" b="1" dirty="0">
              <a:solidFill>
                <a:srgbClr val="FFFF00"/>
              </a:solidFill>
              <a:latin typeface="Calibri" pitchFamily="34" charset="0"/>
            </a:endParaRPr>
          </a:p>
          <a:p>
            <a:pPr marL="361950" indent="-88900" algn="l" eaLnBrk="1" hangingPunct="1">
              <a:lnSpc>
                <a:spcPct val="120000"/>
              </a:lnSpc>
              <a:spcBef>
                <a:spcPts val="600"/>
              </a:spcBef>
            </a:pPr>
            <a:endParaRPr lang="en-US" sz="36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2E3C42-091E-4A31-AB85-98B845DFB5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20112" y="1879162"/>
            <a:ext cx="4447353" cy="33750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B6E7B3-C04F-47E2-971F-F4402BEE7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65690"/>
            <a:ext cx="968000" cy="10138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F3E041-F54E-48F7-8EF7-8BE9E95B3414}"/>
              </a:ext>
            </a:extLst>
          </p:cNvPr>
          <p:cNvSpPr txBox="1"/>
          <p:nvPr/>
        </p:nvSpPr>
        <p:spPr>
          <a:xfrm>
            <a:off x="2613156" y="5876299"/>
            <a:ext cx="3661263" cy="94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0" indent="-88900"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b="1" dirty="0">
                <a:solidFill>
                  <a:srgbClr val="FFFF00"/>
                </a:solidFill>
                <a:latin typeface="Calibri" pitchFamily="34" charset="0"/>
              </a:rPr>
              <a:t>Thank you, Asante </a:t>
            </a:r>
            <a:r>
              <a:rPr lang="en-US" sz="2400" b="1" dirty="0" err="1">
                <a:solidFill>
                  <a:srgbClr val="FFFF00"/>
                </a:solidFill>
                <a:latin typeface="Calibri" pitchFamily="34" charset="0"/>
              </a:rPr>
              <a:t>sana</a:t>
            </a:r>
            <a:r>
              <a:rPr lang="en-US" sz="2400" b="1" dirty="0">
                <a:solidFill>
                  <a:srgbClr val="FFFF00"/>
                </a:solidFill>
                <a:latin typeface="Calibri" pitchFamily="34" charset="0"/>
              </a:rPr>
              <a:t>, </a:t>
            </a:r>
            <a:r>
              <a:rPr lang="en-US" sz="2400" b="1" dirty="0" err="1">
                <a:solidFill>
                  <a:srgbClr val="FFFF00"/>
                </a:solidFill>
                <a:latin typeface="Calibri" pitchFamily="34" charset="0"/>
              </a:rPr>
              <a:t>Murakoze</a:t>
            </a:r>
            <a:r>
              <a:rPr lang="en-US" sz="2400" b="1" dirty="0">
                <a:solidFill>
                  <a:srgbClr val="FFFF00"/>
                </a:solidFill>
                <a:latin typeface="Calibri" pitchFamily="34" charset="0"/>
              </a:rPr>
              <a:t>, Merci </a:t>
            </a:r>
            <a:endParaRPr lang="en-US" sz="2800" b="1" dirty="0">
              <a:solidFill>
                <a:srgbClr val="FFFF00"/>
              </a:solidFill>
              <a:latin typeface="Calibr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E15321-28DF-4F60-AE6B-0E3AFCA76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3429000"/>
            <a:ext cx="262151" cy="29873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9B9B74ED-420F-4B25-9089-1ED9DC92C540}"/>
              </a:ext>
            </a:extLst>
          </p:cNvPr>
          <p:cNvSpPr/>
          <p:nvPr/>
        </p:nvSpPr>
        <p:spPr>
          <a:xfrm>
            <a:off x="8676456" y="3443028"/>
            <a:ext cx="237079" cy="27067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95BA10-E51A-49F9-96F2-0D0C62ED349F}"/>
              </a:ext>
            </a:extLst>
          </p:cNvPr>
          <p:cNvSpPr/>
          <p:nvPr/>
        </p:nvSpPr>
        <p:spPr>
          <a:xfrm>
            <a:off x="1196531" y="3429000"/>
            <a:ext cx="237079" cy="27067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053C8E-8DCC-4E58-971D-231D795F8881}"/>
              </a:ext>
            </a:extLst>
          </p:cNvPr>
          <p:cNvSpPr/>
          <p:nvPr/>
        </p:nvSpPr>
        <p:spPr>
          <a:xfrm>
            <a:off x="7710390" y="3441273"/>
            <a:ext cx="237079" cy="27067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4E1045-22BC-4D75-B155-E6BEF3947FD8}"/>
              </a:ext>
            </a:extLst>
          </p:cNvPr>
          <p:cNvSpPr/>
          <p:nvPr/>
        </p:nvSpPr>
        <p:spPr>
          <a:xfrm>
            <a:off x="1867314" y="3474276"/>
            <a:ext cx="237079" cy="27067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619314-0BA4-4242-AD35-610C917FD042}"/>
              </a:ext>
            </a:extLst>
          </p:cNvPr>
          <p:cNvSpPr/>
          <p:nvPr/>
        </p:nvSpPr>
        <p:spPr>
          <a:xfrm>
            <a:off x="6804215" y="3429000"/>
            <a:ext cx="237079" cy="27067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3_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917</Words>
  <Application>Microsoft Office PowerPoint</Application>
  <PresentationFormat>On-screen Show (4:3)</PresentationFormat>
  <Paragraphs>143</Paragraphs>
  <Slides>20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Narrow</vt:lpstr>
      <vt:lpstr>Calibri</vt:lpstr>
      <vt:lpstr>Times New Roman</vt:lpstr>
      <vt:lpstr>Wingdings</vt:lpstr>
      <vt:lpstr>3_Diseño predeterminado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2026-05-18T01:49:12Z</dcterms:created>
  <dcterms:modified xsi:type="dcterms:W3CDTF">2026-05-18T01:51:12Z</dcterms:modified>
</cp:coreProperties>
</file>